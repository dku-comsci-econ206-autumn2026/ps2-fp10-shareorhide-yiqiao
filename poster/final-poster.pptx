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f84db040ff44bb" /><Relationship Type="http://schemas.openxmlformats.org/officeDocument/2006/relationships/extended-properties" Target="/docProps/app.xml" Id="R23764b33e7594f97" /><Relationship Type="http://schemas.openxmlformats.org/officeDocument/2006/relationships/officeDocument" Target="/ppt/presentation.xml" Id="Refcd4cef90f24a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f1d1ccb8b14af5"/>
  </p:sldMasterIdLst>
  <p:notesMasterIdLst>
    <p:notesMasterId xmlns:r="http://schemas.openxmlformats.org/officeDocument/2006/relationships" r:id="Re1dc9657ebef4101"/>
  </p:notesMasterIdLst>
  <p:sldIdLst>
    <p:sldId xmlns:r="http://schemas.openxmlformats.org/officeDocument/2006/relationships" id="256" r:id="R6363ce9bc67f478f"/>
  </p:sldIdLst>
  <p:sldSz cx="4280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b95d35c1014c09" /><Relationship Type="http://schemas.openxmlformats.org/officeDocument/2006/relationships/slideMaster" Target="/ppt/slideMasters/slideMaster1.xml" Id="R13f1d1ccb8b14af5" /><Relationship Type="http://schemas.openxmlformats.org/officeDocument/2006/relationships/notesMaster" Target="/ppt/notesMasters/notesMaster1.xml" Id="Re1dc9657ebef4101" /><Relationship Type="http://schemas.openxmlformats.org/officeDocument/2006/relationships/presProps" Target="/ppt/presProps.xml" Id="R63e2e540cc5a4a50" /><Relationship Type="http://schemas.openxmlformats.org/officeDocument/2006/relationships/tableStyles" Target="/ppt/tableStyles.xml" Id="Rd53236dc2fe2481c" /><Relationship Type="http://schemas.openxmlformats.org/officeDocument/2006/relationships/slide" Target="/ppt/slides/slide1.xml" Id="R6363ce9bc67f47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6b3ded2cc649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8059ea638e4107" /><Relationship Type="http://schemas.openxmlformats.org/officeDocument/2006/relationships/notesMaster" Target="/ppt/notesMasters/notesMaster1.xml" Id="R0ae232864fdd43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Los et al. (2020), DOI 10.1016/j.tre.2020.102011; Liu and Chow (2022), DOI 10.1016/j.trb.2022.06.013; Maheshwari et al. (2025), DOI 10.1145/3732290; official UN SDG Goal 9 and Goal 11 pages and communications assets; FP10 outputs/final/release_manifest.json. Evidence is a stylized computational benchmark, not real-world drone traffic evidence. Official course A0 template supplied by COMSCI/ECON 206.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e450665d1645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44b4b5f6054b12" /><Relationship Type="http://schemas.openxmlformats.org/officeDocument/2006/relationships/slideLayout" Target="/ppt/slideLayouts/slideLayout1.xml" Id="Rfcb2fae8b0e34f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b2fae8b0e34f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12e052ecf400a" /><Relationship Type="http://schemas.openxmlformats.org/officeDocument/2006/relationships/image" Target="/ppt/media/image.png" Id="R5db1220e9136457c" /><Relationship Type="http://schemas.openxmlformats.org/officeDocument/2006/relationships/image" Target="/ppt/media/image2.png" Id="R8fb2707af1834725" /><Relationship Type="http://schemas.openxmlformats.org/officeDocument/2006/relationships/image" Target="/ppt/media/image3.png" Id="Ra032cb0387374986" /><Relationship Type="http://schemas.openxmlformats.org/officeDocument/2006/relationships/image" Target="/ppt/media/image4.png" Id="R46d6f8d398dc4bca" /><Relationship Type="http://schemas.openxmlformats.org/officeDocument/2006/relationships/image" Target="/ppt/media/image5.png" Id="R41f8988223b34496" /><Relationship Type="http://schemas.openxmlformats.org/officeDocument/2006/relationships/image" Target="/ppt/media/image6.png" Id="R18ec70d733c4423c" /><Relationship Type="http://schemas.openxmlformats.org/officeDocument/2006/relationships/image" Target="/ppt/media/image7.png" Id="Rb55c47e584ae4518" /><Relationship Type="http://schemas.openxmlformats.org/officeDocument/2006/relationships/notesSlide" Target="/ppt/notesSlides/notesSlide1.xml" Id="Ra810eceeb4f443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op-brand-rule">
            <a:extLst xmlns:a="http://schemas.openxmlformats.org/drawingml/2006/main">
              <a:ext uri="{FF2B5EF4-FFF2-40B4-BE49-F238E27FC236}">
                <a16:creationId xmlns:a16="http://schemas.microsoft.com/office/drawing/2014/main" id="{FDACD238-30EA-433B-B9A8-2AB27062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ine">
            <a:extLst xmlns:a="http://schemas.openxmlformats.org/drawingml/2006/main">
              <a:ext uri="{FF2B5EF4-FFF2-40B4-BE49-F238E27FC236}">
                <a16:creationId xmlns:a16="http://schemas.microsoft.com/office/drawing/2014/main" id="{5806B552-CE06-4C40-BA14-45983C2D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1050"/>
            <a:ext cx="2886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COMSCI / ECON 206   |   FINAL RESEARCH PROJECT   |   AUTUMN 2026</a:t>
            </a:r>
          </a:p>
        </p:txBody>
      </p:sp>
      <p:sp>
        <p:nvSpPr>
          <p:cNvPr id="3" name="version">
            <a:extLst xmlns:a="http://schemas.openxmlformats.org/drawingml/2006/main">
              <a:ext uri="{FF2B5EF4-FFF2-40B4-BE49-F238E27FC236}">
                <a16:creationId xmlns:a16="http://schemas.microsoft.com/office/drawing/2014/main" id="{05588AA4-5EDB-4475-A143-90877DB1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0" y="615315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/>
            </a:defPPr>
          </a:lstStyle>
          <a:p xmlns:a="http://schemas.openxmlformats.org/drawingml/2006/main">
            <a:pPr algn="r">
              <a:buNone/>
              <a:defRPr sz="195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FINAL PROJECT v2026.10.15</a:t>
            </a:r>
          </a:p>
        </p:txBody>
      </p:sp>
      <p:sp>
        <p:nvSpPr>
          <p:cNvPr id="4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B66A5B7F-804A-4F30-B6A0-3C5C2AB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29146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7800"/>
            </a:defPPr>
          </a:lstStyle>
          <a:p xmlns:a="http://schemas.openxmlformats.org/drawingml/2006/main">
            <a:pPr algn="l">
              <a:buNone/>
              <a:defRPr sz="78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78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Share or Hide? Strategic Disclosure</a:t>
            </a:r>
          </a:p>
          <a:p xmlns:a="http://schemas.openxmlformats.org/drawingml/2006/main">
            <a:pPr algn="l">
              <a:buNone/>
              <a:defRPr sz="78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78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in Congested Low-Altitude Drone Traffic</a:t>
            </a:r>
          </a:p>
        </p:txBody>
      </p:sp>
      <p:sp>
        <p:nvSpPr>
          <p:cNvPr id="5" name="authors">
            <a:extLst xmlns:a="http://schemas.openxmlformats.org/drawingml/2006/main">
              <a:ext uri="{FF2B5EF4-FFF2-40B4-BE49-F238E27FC236}">
                <a16:creationId xmlns:a16="http://schemas.microsoft.com/office/drawing/2014/main" id="{439A7EDB-36D0-4D9A-9F53-6704B96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857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/>
            </a:defPPr>
          </a:lstStyle>
          <a:p xmlns:a="http://schemas.openxmlformats.org/drawingml/2006/main">
            <a:pPr algn="l">
              <a:buNone/>
              <a:defRPr sz="3900" b="1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Yiqiao Liu  |  Team FP10</a:t>
            </a:r>
          </a:p>
        </p:txBody>
      </p:sp>
      <p:sp>
        <p:nvSpPr>
          <p:cNvPr id="6" name="course-instructor">
            <a:extLst xmlns:a="http://schemas.openxmlformats.org/drawingml/2006/main">
              <a:ext uri="{FF2B5EF4-FFF2-40B4-BE49-F238E27FC236}">
                <a16:creationId xmlns:a16="http://schemas.microsoft.com/office/drawing/2014/main" id="{E0620329-B4C6-41DE-A2DD-7C1BAB05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29225"/>
            <a:ext cx="2857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Course instructor: Professor Luyao Zhang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2AE401-E09B-4A6E-BB7E-6A9D2BCC9B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1220e9136457c"/>
          <a:stretch xmlns:a="http://schemas.openxmlformats.org/drawingml/2006/main"/>
        </p:blipFill>
        <p:spPr>
          <a:xfrm xmlns:a="http://schemas.openxmlformats.org/drawingml/2006/main">
            <a:off x="32575500" y="2190750"/>
            <a:ext cx="8096250" cy="2595818"/>
          </a:xfrm>
          <a:prstGeom xmlns:a="http://schemas.openxmlformats.org/drawingml/2006/main" prst="rect">
            <a:avLst/>
          </a:prstGeom>
        </p:spPr>
      </p:pic>
      <p:sp>
        <p:nvSpPr>
          <p:cNvPr id="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5C59819-8AE8-4F07-93AA-7B6F5A9A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42804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701690AD-D64E-4607-AE56-414773E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2390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MESSAGE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3EFFE95-83CD-498B-99EF-83DF06C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00875"/>
            <a:ext cx="3499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/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Medium-congestion welfare gap falls from 0.946 to 0.050 in the benchmark CCAR example, but the rule also has no-effect and adverse parameter regions.</a:t>
            </a:r>
          </a:p>
        </p:txBody>
      </p:sp>
      <p:sp>
        <p:nvSpPr>
          <p:cNvPr id="11" name="question-model-title">
            <a:extLst xmlns:a="http://schemas.openxmlformats.org/drawingml/2006/main">
              <a:ext uri="{FF2B5EF4-FFF2-40B4-BE49-F238E27FC236}">
                <a16:creationId xmlns:a16="http://schemas.microsoft.com/office/drawing/2014/main" id="{CD5C4DFB-E23C-429C-B167-B9CF488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525000"/>
            <a:ext cx="1028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01   Question and foundations</a:t>
            </a:r>
          </a:p>
        </p:txBody>
      </p:sp>
      <p:sp>
        <p:nvSpPr>
          <p:cNvPr id="12" name="question-model-title-rule">
            <a:extLst xmlns:a="http://schemas.openxmlformats.org/drawingml/2006/main">
              <a:ext uri="{FF2B5EF4-FFF2-40B4-BE49-F238E27FC236}">
                <a16:creationId xmlns:a16="http://schemas.microsoft.com/office/drawing/2014/main" id="{F81F4A35-5377-44CB-941D-4B8D9F2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506075"/>
            <a:ext cx="1028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earch-question-heading">
            <a:extLst xmlns:a="http://schemas.openxmlformats.org/drawingml/2006/main">
              <a:ext uri="{FF2B5EF4-FFF2-40B4-BE49-F238E27FC236}">
                <a16:creationId xmlns:a16="http://schemas.microsoft.com/office/drawing/2014/main" id="{4190E777-F9CF-4131-93FB-BBFC74FF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1442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Research question &amp; verified gap</a:t>
            </a:r>
          </a:p>
        </p:txBody>
      </p:sp>
      <p:sp>
        <p:nvSpPr>
          <p:cNvPr id="14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76FF89C4-3045-4C47-A236-4952EAA0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906250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/>
            </a:defPPr>
          </a:lstStyle>
          <a:p xmlns:a="http://schemas.openxmlformats.org/drawingml/2006/main">
            <a:pPr algn="l">
              <a:buNone/>
              <a:defRPr sz="27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When do private confidentiality costs and public congestion make voluntary M/P/F disclosure inefficient, and when does CCAR improve welfare?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Closest work: Los et al. (2020); Liu &amp; Chow (2022); Maheshwari et al. (2025).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Contribution: a reproducible stylized comparison with failure regions, not a theorem or aviation field result.</a:t>
            </a:r>
          </a:p>
        </p:txBody>
      </p:sp>
      <p:sp>
        <p:nvSpPr>
          <p:cNvPr id="15" name="model-heading">
            <a:extLst xmlns:a="http://schemas.openxmlformats.org/drawingml/2006/main">
              <a:ext uri="{FF2B5EF4-FFF2-40B4-BE49-F238E27FC236}">
                <a16:creationId xmlns:a16="http://schemas.microsoft.com/office/drawing/2014/main" id="{19910E6B-D44C-401D-8E76-04691CDB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9542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Strategic model and Intellectual Merits</a:t>
            </a:r>
          </a:p>
        </p:txBody>
      </p:sp>
      <p:sp>
        <p:nvSpPr>
          <p:cNvPr id="16" name="model">
            <a:extLst xmlns:a="http://schemas.openxmlformats.org/drawingml/2006/main">
              <a:ext uri="{FF2B5EF4-FFF2-40B4-BE49-F238E27FC236}">
                <a16:creationId xmlns:a16="http://schemas.microsoft.com/office/drawing/2014/main" id="{BD93B7B7-C6A1-4C6C-8B07-9664A88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668625"/>
            <a:ext cx="10287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/>
            </a:defPPr>
          </a:lstStyle>
          <a:p xmlns:a="http://schemas.openxmlformats.org/drawingml/2006/main">
            <a:pPr algn="l"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7" name="lenses-heading">
            <a:extLst xmlns:a="http://schemas.openxmlformats.org/drawingml/2006/main">
              <a:ext uri="{FF2B5EF4-FFF2-40B4-BE49-F238E27FC236}">
                <a16:creationId xmlns:a16="http://schemas.microsoft.com/office/drawing/2014/main" id="{DAFBC93E-B2F0-417F-9381-A98FDF5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859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Three complementary lenses</a:t>
            </a:r>
          </a:p>
        </p:txBody>
      </p:sp>
      <p:sp>
        <p:nvSpPr>
          <p:cNvPr id="18" name="lenses">
            <a:extLst xmlns:a="http://schemas.openxmlformats.org/drawingml/2006/main">
              <a:ext uri="{FF2B5EF4-FFF2-40B4-BE49-F238E27FC236}">
                <a16:creationId xmlns:a16="http://schemas.microsoft.com/office/drawing/2014/main" id="{E2BAF178-74E4-4DFF-A2BB-763467E7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621500"/>
            <a:ext cx="10287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/>
            </a:defPPr>
          </a:lstStyle>
          <a:p xmlns:a="http://schemas.openxmlformats.org/drawingml/2006/main">
            <a:pPr algn="l">
              <a:buNone/>
              <a:defRPr sz="27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Game theory predicts complete type-contingent pure BNE.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Social choice compares operator utility with total welfare and an infeasible type-observing reference.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Mechanism design tests a congestion-contingent rule for enhanced, non-safety access.</a:t>
            </a:r>
          </a:p>
        </p:txBody>
      </p:sp>
      <p:sp>
        <p:nvSpPr>
          <p:cNvPr id="19" name="auction-heading">
            <a:extLst xmlns:a="http://schemas.openxmlformats.org/drawingml/2006/main">
              <a:ext uri="{FF2B5EF4-FFF2-40B4-BE49-F238E27FC236}">
                <a16:creationId xmlns:a16="http://schemas.microsoft.com/office/drawing/2014/main" id="{0A85FF4E-C110-48A1-8567-A06DAC9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5742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Auction or allocation comparison</a:t>
            </a:r>
          </a:p>
        </p:txBody>
      </p:sp>
      <p:sp>
        <p:nvSpPr>
          <p:cNvPr id="20" name="auction">
            <a:extLst xmlns:a="http://schemas.openxmlformats.org/drawingml/2006/main">
              <a:ext uri="{FF2B5EF4-FFF2-40B4-BE49-F238E27FC236}">
                <a16:creationId xmlns:a16="http://schemas.microsoft.com/office/drawing/2014/main" id="{182900A4-D41C-4FC8-8D3B-A44A875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0"/>
            <a:ext cx="10287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/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One residual commercial priority slot. FCFS: first eligible request, zero payment. Second-price auction: highest bid wins, pays second bid.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Seed-206 simulation: mean efficiency 0.622 vs 1.000. Emergency and public-safety missions remain outside payment-based access.</a:t>
            </a:r>
          </a:p>
        </p:txBody>
      </p:sp>
      <p:sp>
        <p:nvSpPr>
          <p:cNvPr id="21" name="design-evidence-title">
            <a:extLst xmlns:a="http://schemas.openxmlformats.org/drawingml/2006/main">
              <a:ext uri="{FF2B5EF4-FFF2-40B4-BE49-F238E27FC236}">
                <a16:creationId xmlns:a16="http://schemas.microsoft.com/office/drawing/2014/main" id="{5BD8C5A5-8D38-4D0E-9168-5677F645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525000"/>
            <a:ext cx="1809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02   Model and verified evidence</a:t>
            </a:r>
          </a:p>
        </p:txBody>
      </p:sp>
      <p:sp>
        <p:nvSpPr>
          <p:cNvPr id="22" name="design-evidence-title-rule">
            <a:extLst xmlns:a="http://schemas.openxmlformats.org/drawingml/2006/main">
              <a:ext uri="{FF2B5EF4-FFF2-40B4-BE49-F238E27FC236}">
                <a16:creationId xmlns:a16="http://schemas.microsoft.com/office/drawing/2014/main" id="{3074EA74-1821-4014-8E91-ECC3F7A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0506075"/>
            <a:ext cx="1809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search-design-area">
            <a:extLst xmlns:a="http://schemas.openxmlformats.org/drawingml/2006/main">
              <a:ext uri="{FF2B5EF4-FFF2-40B4-BE49-F238E27FC236}">
                <a16:creationId xmlns:a16="http://schemas.microsoft.com/office/drawing/2014/main" id="{6BFB0873-E93B-425C-B20A-BE7D9281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1144250"/>
            <a:ext cx="18097500" cy="661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24" name="research-design-label">
            <a:extLst xmlns:a="http://schemas.openxmlformats.org/drawingml/2006/main">
              <a:ext uri="{FF2B5EF4-FFF2-40B4-BE49-F238E27FC236}">
                <a16:creationId xmlns:a16="http://schemas.microsoft.com/office/drawing/2014/main" id="{8126654C-9B1A-4166-BD33-50CD41EA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13049250"/>
            <a:ext cx="1685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5" name="research-design-prompt">
            <a:extLst xmlns:a="http://schemas.openxmlformats.org/drawingml/2006/main">
              <a:ext uri="{FF2B5EF4-FFF2-40B4-BE49-F238E27FC236}">
                <a16:creationId xmlns:a16="http://schemas.microsoft.com/office/drawing/2014/main" id="{FB9F3C40-7F71-42C4-93FE-A2A20CF3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14097000"/>
            <a:ext cx="16287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6" name="design-caption">
            <a:extLst xmlns:a="http://schemas.openxmlformats.org/drawingml/2006/main">
              <a:ext uri="{FF2B5EF4-FFF2-40B4-BE49-F238E27FC236}">
                <a16:creationId xmlns:a16="http://schemas.microsoft.com/office/drawing/2014/main" id="{70CF347C-1901-4936-A975-9657C35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7907000"/>
            <a:ext cx="1809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>Figure 1. Closest foundations lead to an endogenous-disclosure Bayesian model, verified BNE and welfare, proposed CCAR, computation, and explicit limitations.</a:t>
            </a:r>
          </a:p>
        </p:txBody>
      </p:sp>
      <p:sp>
        <p:nvSpPr>
          <p:cNvPr id="27" name="main-result-area">
            <a:extLst xmlns:a="http://schemas.openxmlformats.org/drawingml/2006/main">
              <a:ext uri="{FF2B5EF4-FFF2-40B4-BE49-F238E27FC236}">
                <a16:creationId xmlns:a16="http://schemas.microsoft.com/office/drawing/2014/main" id="{AF352E9D-B9F1-4E49-9DC0-059C3E7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8669000"/>
            <a:ext cx="120015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28" name="main-result-label">
            <a:extLst xmlns:a="http://schemas.openxmlformats.org/drawingml/2006/main">
              <a:ext uri="{FF2B5EF4-FFF2-40B4-BE49-F238E27FC236}">
                <a16:creationId xmlns:a16="http://schemas.microsoft.com/office/drawing/2014/main" id="{A95FDDB5-DC34-4CBB-B5F4-3B143142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0" y="18669000"/>
            <a:ext cx="581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3000"/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Robustness and verification</a:t>
            </a:r>
          </a:p>
        </p:txBody>
      </p:sp>
      <p:sp>
        <p:nvSpPr>
          <p:cNvPr id="29" name="main-result-prompt">
            <a:extLst xmlns:a="http://schemas.openxmlformats.org/drawingml/2006/main">
              <a:ext uri="{FF2B5EF4-FFF2-40B4-BE49-F238E27FC236}">
                <a16:creationId xmlns:a16="http://schemas.microsoft.com/office/drawing/2014/main" id="{20FD9DFC-1B88-4B17-A251-EA9C62AC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0" y="19573875"/>
            <a:ext cx="5810250" cy="738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212A33"/>
                </a:solidFill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760 deterministic grid cells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401 no-effect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334 robust improvements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18 excessive-disclosure flags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3 larger-gap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66 multiple CCAR BNE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Diagnostics overlap.</a:t>
            </a:r>
          </a:p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Exhaustive 81-profile search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Evidence: stylized computation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Source: outputs/final/</a:t>
            </a:r>
          </a:p>
        </p:txBody>
      </p:sp>
      <p:sp>
        <p:nvSpPr>
          <p:cNvPr id="30" name="result-caption">
            <a:extLst xmlns:a="http://schemas.openxmlformats.org/drawingml/2006/main">
              <a:ext uri="{FF2B5EF4-FFF2-40B4-BE49-F238E27FC236}">
                <a16:creationId xmlns:a16="http://schemas.microsoft.com/office/drawing/2014/main" id="{C7A388AE-9A9C-4C69-A215-69F12E63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5050750"/>
            <a:ext cx="12001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Figure 2. Expected normalized welfare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Low: 0.000 / 0.639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Medium: 2.193 / 3.089 / 3.139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High: 6.882 / 6.882 / 7.385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(BNE / CCAR / first best).</a:t>
            </a:r>
          </a:p>
        </p:txBody>
      </p:sp>
      <p:sp>
        <p:nvSpPr>
          <p:cNvPr id="31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7974BDE9-47C8-4976-9EB0-1D99D2A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9525000"/>
            <a:ext cx="10229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03   Practical impacts and roadmap</a:t>
            </a:r>
          </a:p>
        </p:txBody>
      </p:sp>
      <p:sp>
        <p:nvSpPr>
          <p:cNvPr id="32" name="impact-title-rule">
            <a:extLst xmlns:a="http://schemas.openxmlformats.org/drawingml/2006/main">
              <a:ext uri="{FF2B5EF4-FFF2-40B4-BE49-F238E27FC236}">
                <a16:creationId xmlns:a16="http://schemas.microsoft.com/office/drawing/2014/main" id="{92EF0681-32CB-4E92-B477-91FDD7D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10506075"/>
            <a:ext cx="10229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al-world-heading">
            <a:extLst xmlns:a="http://schemas.openxmlformats.org/drawingml/2006/main">
              <a:ext uri="{FF2B5EF4-FFF2-40B4-BE49-F238E27FC236}">
                <a16:creationId xmlns:a16="http://schemas.microsoft.com/office/drawing/2014/main" id="{8D7A544D-17E0-43AC-A769-0DC992E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11144250"/>
            <a:ext cx="1022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Practical Impacts diagram with SDG targets</a:t>
            </a:r>
          </a:p>
        </p:txBody>
      </p:sp>
      <p:sp>
        <p:nvSpPr>
          <p:cNvPr id="34" name="real-world">
            <a:extLst xmlns:a="http://schemas.openxmlformats.org/drawingml/2006/main">
              <a:ext uri="{FF2B5EF4-FFF2-40B4-BE49-F238E27FC236}">
                <a16:creationId xmlns:a16="http://schemas.microsoft.com/office/drawing/2014/main" id="{2199F087-3016-48E4-80F0-4F875A7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11858625"/>
            <a:ext cx="102298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algn="l"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5" name="interdisciplinary-heading">
            <a:extLst xmlns:a="http://schemas.openxmlformats.org/drawingml/2006/main">
              <a:ext uri="{FF2B5EF4-FFF2-40B4-BE49-F238E27FC236}">
                <a16:creationId xmlns:a16="http://schemas.microsoft.com/office/drawing/2014/main" id="{1E996ED0-A32A-4617-8E65-E6ED026E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16335375"/>
            <a:ext cx="1022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Future Research Roadmap new diagram</a:t>
            </a:r>
          </a:p>
        </p:txBody>
      </p:sp>
      <p:sp>
        <p:nvSpPr>
          <p:cNvPr id="36" name="interdisciplinary">
            <a:extLst xmlns:a="http://schemas.openxmlformats.org/drawingml/2006/main">
              <a:ext uri="{FF2B5EF4-FFF2-40B4-BE49-F238E27FC236}">
                <a16:creationId xmlns:a16="http://schemas.microsoft.com/office/drawing/2014/main" id="{91D1D813-AECB-4965-9667-285D2DDC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17097375"/>
            <a:ext cx="1022985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algn="l">
              <a:buNone/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7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68ADFBED-634F-4EFD-A437-EF921500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22240875"/>
            <a:ext cx="1022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Integration and updated named contributions</a:t>
            </a:r>
          </a:p>
        </p:txBody>
      </p:sp>
      <p:sp>
        <p:nvSpPr>
          <p:cNvPr id="38" name="limits">
            <a:extLst xmlns:a="http://schemas.openxmlformats.org/drawingml/2006/main">
              <a:ext uri="{FF2B5EF4-FFF2-40B4-BE49-F238E27FC236}">
                <a16:creationId xmlns:a16="http://schemas.microsoft.com/office/drawing/2014/main" id="{B297720D-E873-4F17-88AF-AF30E5F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22955250"/>
            <a:ext cx="10229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/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Economics defines incentives and welfare; computation exposes failure regions; those failures narrow the practical claim and motivate comprehension/fairness tests.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Yiqiao Liu: model boundary, code, experiments, interface, paper and poster; 65 baseline tests and fresh artifact verification.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Limits: two operators/types, exogenous congestion, pure strategies, no calibration, report-quality or implementation-cost model.</a:t>
            </a:r>
          </a:p>
        </p:txBody>
      </p:sp>
      <p:sp>
        <p:nvSpPr>
          <p:cNvPr id="39" name="dates">
            <a:extLst xmlns:a="http://schemas.openxmlformats.org/drawingml/2006/main">
              <a:ext uri="{FF2B5EF4-FFF2-40B4-BE49-F238E27FC236}">
                <a16:creationId xmlns:a16="http://schemas.microsoft.com/office/drawing/2014/main" id="{EA157D18-CC9B-4A0B-91A5-3BE26B8F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25717500"/>
            <a:ext cx="10229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/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OCT 12 / OCT 14 historical activity records: author confirmation pending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OCT 21  Final submission at 23:00 Shanghai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4CE48EC-E121-4C2A-81BE-8C70F6F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0"/>
            <a:ext cx="4013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ck-heading">
            <a:extLst xmlns:a="http://schemas.openxmlformats.org/drawingml/2006/main">
              <a:ext uri="{FF2B5EF4-FFF2-40B4-BE49-F238E27FC236}">
                <a16:creationId xmlns:a16="http://schemas.microsoft.com/office/drawing/2014/main" id="{CC1B0A45-EEBC-4636-8C8B-F8804355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Full acknowledgments</a:t>
            </a:r>
          </a:p>
        </p:txBody>
      </p:sp>
      <p:sp>
        <p:nvSpPr>
          <p:cNvPr id="42" name="ack">
            <a:extLst xmlns:a="http://schemas.openxmlformats.org/drawingml/2006/main">
              <a:ext uri="{FF2B5EF4-FFF2-40B4-BE49-F238E27FC236}">
                <a16:creationId xmlns:a16="http://schemas.microsoft.com/office/drawing/2014/main" id="{1C589FA2-42B8-4C7A-9C87-A446B78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479750"/>
            <a:ext cx="11049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/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Prof. Luyao Zhang: course design and official templates. Prof. Kenneth S. (Ken) Rogerson: documented course-workshop context; no direct FP10 review claimed. Han Zhang: proposed three-party oversight extension. Xinrong Sun: novelty, domain, congestion-benefit and CCAR-externality challenges (author-supplied summaries; source records pending). Tencent Shanghai office; Shanghai Science and Technology Museum; COMSCI/ECON 206 classroom community. UN SDG assets; Python/NumPy/Matplotlib/nbclient/Gradio/Playwright/ACM template; OpenAI Codex assistance. Yiqiao Liu remains responsible.</a:t>
            </a:r>
          </a:p>
        </p:txBody>
      </p:sp>
      <p:sp>
        <p:nvSpPr>
          <p:cNvPr id="43" name="references-heading">
            <a:extLst xmlns:a="http://schemas.openxmlformats.org/drawingml/2006/main">
              <a:ext uri="{FF2B5EF4-FFF2-40B4-BE49-F238E27FC236}">
                <a16:creationId xmlns:a16="http://schemas.microsoft.com/office/drawing/2014/main" id="{E7EA3AAE-744F-4F03-A737-D3056A0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7813000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Selected references</a:t>
            </a:r>
          </a:p>
        </p:txBody>
      </p:sp>
      <p:sp>
        <p:nvSpPr>
          <p:cNvPr id="44" name="references">
            <a:extLst xmlns:a="http://schemas.openxmlformats.org/drawingml/2006/main">
              <a:ext uri="{FF2B5EF4-FFF2-40B4-BE49-F238E27FC236}">
                <a16:creationId xmlns:a16="http://schemas.microsoft.com/office/drawing/2014/main" id="{0ECEF328-5F03-4179-A929-2458DB1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479750"/>
            <a:ext cx="1419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/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Los et al. (2020), Transp. Res. E 141, 102011. doi:10.1016/j.tre.2020.102011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Liu &amp; Chow (2022), Transp. Res. B 163, 64–87. doi:10.1016/j.trb.2022.06.013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Maheshwari et al. (2025), ACM JATS 2(4), Art. 19. doi:10.1145/3732290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UN SDG targets 9.1 and 11.2: sdgs.un.org/goals</a:t>
            </a:r>
          </a:p>
        </p:txBody>
      </p:sp>
      <p:sp>
        <p:nvSpPr>
          <p:cNvPr id="45" name="access-heading">
            <a:extLst xmlns:a="http://schemas.openxmlformats.org/drawingml/2006/main">
              <a:ext uri="{FF2B5EF4-FFF2-40B4-BE49-F238E27FC236}">
                <a16:creationId xmlns:a16="http://schemas.microsoft.com/office/drawing/2014/main" id="{49F540C3-5DD7-4CE8-9BCD-20A72A4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78130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OPEN MATERIALS</a:t>
            </a:r>
          </a:p>
        </p:txBody>
      </p:sp>
      <p:sp>
        <p:nvSpPr>
          <p:cNvPr id="46" name="access-links">
            <a:extLst xmlns:a="http://schemas.openxmlformats.org/drawingml/2006/main">
              <a:ext uri="{FF2B5EF4-FFF2-40B4-BE49-F238E27FC236}">
                <a16:creationId xmlns:a16="http://schemas.microsoft.com/office/drawing/2014/main" id="{35C264DA-792D-48F7-AE3C-F21A5E9A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8384500"/>
            <a:ext cx="809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/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Hugging Face: hf.co/spaces/dku-comsci-econ206-2026/ps2-share-or-hide-drone-disclosure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GitHub: github.com/dku-comsci-econ206-Autumn2026/PS2-FP10-ShareOrHide-Yiqiao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Final tested commit: pending final verification commit</a:t>
            </a:r>
          </a:p>
        </p:txBody>
      </p:sp>
      <p:sp>
        <p:nvSpPr>
          <p:cNvPr id="47" name="hf-qr-placeholder">
            <a:extLst xmlns:a="http://schemas.openxmlformats.org/drawingml/2006/main">
              <a:ext uri="{FF2B5EF4-FFF2-40B4-BE49-F238E27FC236}">
                <a16:creationId xmlns:a16="http://schemas.microsoft.com/office/drawing/2014/main" id="{296FE813-8DC2-4185-ADA6-A77390D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2125" y="28403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48" name="hf-qr-label">
            <a:extLst xmlns:a="http://schemas.openxmlformats.org/drawingml/2006/main">
              <a:ext uri="{FF2B5EF4-FFF2-40B4-BE49-F238E27FC236}">
                <a16:creationId xmlns:a16="http://schemas.microsoft.com/office/drawing/2014/main" id="{E242BD6C-81B6-4B83-927B-ABE99A7D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8800" y="28508325"/>
            <a:ext cx="742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algn="ctr">
              <a:buNone/>
              <a:defRPr sz="180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9" name="github-qr-placeholder">
            <a:extLst xmlns:a="http://schemas.openxmlformats.org/drawingml/2006/main">
              <a:ext uri="{FF2B5EF4-FFF2-40B4-BE49-F238E27FC236}">
                <a16:creationId xmlns:a16="http://schemas.microsoft.com/office/drawing/2014/main" id="{63890B80-6191-47DE-888B-3D958CCA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8950" y="28403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50" name="github-qr-label">
            <a:extLst xmlns:a="http://schemas.openxmlformats.org/drawingml/2006/main">
              <a:ext uri="{FF2B5EF4-FFF2-40B4-BE49-F238E27FC236}">
                <a16:creationId xmlns:a16="http://schemas.microsoft.com/office/drawing/2014/main" id="{ADAD9B08-81E1-4FA5-99E7-6DC63E0C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8000" y="28508325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algn="ctr">
              <a:buNone/>
              <a:defRPr sz="17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1" name="format-note">
            <a:extLst xmlns:a="http://schemas.openxmlformats.org/drawingml/2006/main">
              <a:ext uri="{FF2B5EF4-FFF2-40B4-BE49-F238E27FC236}">
                <a16:creationId xmlns:a16="http://schemas.microsoft.com/office/drawing/2014/main" id="{49DEC60E-E378-41A7-B1C9-EC4712C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00750"/>
            <a:ext cx="2857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>A0 landscape 1189 × 841 mm. Submit PPTX + PDF. Commit poster PDF/preview to GitHub and embed in ROOT README.md.</a:t>
            </a:r>
          </a:p>
        </p:txBody>
      </p:sp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277A36-2A2B-413D-B35A-43538A9BBF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2707af1834725"/>
          <a:stretch xmlns:a="http://schemas.openxmlformats.org/drawingml/2006/main"/>
        </p:blipFill>
        <p:spPr>
          <a:xfrm xmlns:a="http://schemas.openxmlformats.org/drawingml/2006/main">
            <a:off x="12532461" y="11239500"/>
            <a:ext cx="17797578" cy="6429375"/>
          </a:xfrm>
          <a:prstGeom xmlns:a="http://schemas.openxmlformats.org/drawingml/2006/main" prst="rect">
            <a:avLst/>
          </a:prstGeom>
        </p:spPr>
      </p:pic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62ADF3-1B69-4FAC-8F21-ED6768A25F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2cb0387374986"/>
          <a:stretch xmlns:a="http://schemas.openxmlformats.org/drawingml/2006/main"/>
        </p:blipFill>
        <p:spPr>
          <a:xfrm xmlns:a="http://schemas.openxmlformats.org/drawingml/2006/main">
            <a:off x="13214195" y="18907125"/>
            <a:ext cx="10338110" cy="5715000"/>
          </a:xfrm>
          <a:prstGeom xmlns:a="http://schemas.openxmlformats.org/drawingml/2006/main" prst="rect">
            <a:avLst/>
          </a:prstGeom>
        </p:spPr>
      </p:pic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6EC6F9-69B7-407D-94AA-90D121D71E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6f8d398dc4bca"/>
          <a:stretch xmlns:a="http://schemas.openxmlformats.org/drawingml/2006/main"/>
        </p:blipFill>
        <p:spPr>
          <a:xfrm xmlns:a="http://schemas.openxmlformats.org/drawingml/2006/main">
            <a:off x="32546925" y="11858625"/>
            <a:ext cx="7620000" cy="4286250"/>
          </a:xfrm>
          <a:prstGeom xmlns:a="http://schemas.openxmlformats.org/drawingml/2006/main" prst="rect">
            <a:avLst/>
          </a:prstGeom>
        </p:spPr>
      </p:pic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80B5915-12D5-4C7A-8823-3C3B0F937E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8988223b34496"/>
          <a:stretch xmlns:a="http://schemas.openxmlformats.org/drawingml/2006/main"/>
        </p:blipFill>
        <p:spPr>
          <a:xfrm xmlns:a="http://schemas.openxmlformats.org/drawingml/2006/main">
            <a:off x="31954258" y="17097375"/>
            <a:ext cx="8805333" cy="4953000"/>
          </a:xfrm>
          <a:prstGeom xmlns:a="http://schemas.openxmlformats.org/drawingml/2006/main" prst="rect">
            <a:avLst/>
          </a:prstGeom>
        </p:spPr>
      </p:pic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7BCD90-1509-4279-9842-DBE55A6ED1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c70d733c4423c"/>
          <a:stretch xmlns:a="http://schemas.openxmlformats.org/drawingml/2006/main"/>
        </p:blipFill>
        <p:spPr>
          <a:xfrm xmlns:a="http://schemas.openxmlformats.org/drawingml/2006/main">
            <a:off x="39128700" y="28251150"/>
            <a:ext cx="1095375" cy="1095375"/>
          </a:xfrm>
          <a:prstGeom xmlns:a="http://schemas.openxmlformats.org/drawingml/2006/main" prst="rect">
            <a:avLst/>
          </a:prstGeom>
        </p:spPr>
      </p:pic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01D324-A0B1-4305-B77E-66C5942FF3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c47e584ae4518"/>
          <a:stretch xmlns:a="http://schemas.openxmlformats.org/drawingml/2006/main"/>
        </p:blipFill>
        <p:spPr>
          <a:xfrm xmlns:a="http://schemas.openxmlformats.org/drawingml/2006/main">
            <a:off x="40338375" y="28251150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9DCA2C-570C-48D7-B105-714684D8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716250"/>
            <a:ext cx="1000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9050">
            <a:solidFill>
              <a:srgbClr val="315E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</a:defRPr>
            </a:pPr>
            <a:r>
              <a:rPr sz="2100" b="0">
                <a:solidFill>
                  <a:srgbClr val="18324A"/>
                </a:solidFill>
              </a:rPr>
              <a:t>PRIVATE TYPE   Low or High confidentiality cost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F975CE-631F-4563-824E-3301328A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478250"/>
            <a:ext cx="1000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9050">
            <a:solidFill>
              <a:srgbClr val="315E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</a:defRPr>
            </a:pPr>
            <a:r>
              <a:rPr sz="2100" b="0">
                <a:solidFill>
                  <a:srgbClr val="18324A"/>
                </a:solidFill>
              </a:rPr>
              <a:t>ACTION   Minimum / Partial / Full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F4F341-E340-4643-A999-7C41433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240250"/>
            <a:ext cx="1000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9050">
            <a:solidFill>
              <a:srgbClr val="315E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</a:defRPr>
            </a:pPr>
            <a:r>
              <a:rPr sz="2100" b="0">
                <a:solidFill>
                  <a:srgbClr val="18324A"/>
                </a:solidFill>
              </a:rPr>
              <a:t>BNE   Best response to rival's type strategy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E4C14E-3334-4DBA-B7B1-3B57E99B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02250"/>
            <a:ext cx="1000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19050">
            <a:solidFill>
              <a:srgbClr val="14877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</a:defRPr>
            </a:pPr>
            <a:r>
              <a:rPr sz="2100" b="0">
                <a:solidFill>
                  <a:srgbClr val="18324A"/>
                </a:solidFill>
              </a:rPr>
              <a:t>CCAR   Minimum access factor αM at Medium/High</a:t>
            </a:r>
          </a:p>
        </p:txBody>
      </p:sp>
    </p:spTree>
    <p:extLst>
      <p:ext uri="{BB962C8B-B14F-4D97-AF65-F5344CB8AC3E}">
        <p14:creationId xmlns:p14="http://schemas.microsoft.com/office/powerpoint/2010/main" val="81398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2026-10-15T07:53:57.0910000Z</dcterms:created>
  <dcterms:modified xsi:type="dcterms:W3CDTF">2026-10-15T07:53:57.0910000Z</dcterms:modified>
</coreProperties>
</file>