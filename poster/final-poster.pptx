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266237f4744074" /><Relationship Type="http://schemas.openxmlformats.org/officeDocument/2006/relationships/extended-properties" Target="/docProps/app.xml" Id="R4c1394def2dd424e" /><Relationship Type="http://schemas.openxmlformats.org/officeDocument/2006/relationships/officeDocument" Target="/ppt/presentation.xml" Id="Rc8f72bf29a7744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9d3e1c36b34111"/>
  </p:sldMasterIdLst>
  <p:notesMasterIdLst>
    <p:notesMasterId xmlns:r="http://schemas.openxmlformats.org/officeDocument/2006/relationships" r:id="R1bac375d54784d7e"/>
  </p:notesMasterIdLst>
  <p:sldIdLst>
    <p:sldId xmlns:r="http://schemas.openxmlformats.org/officeDocument/2006/relationships" id="256" r:id="R25dbbddbdf4b48ca"/>
  </p:sldIdLst>
  <p:sldSz cx="4280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60f9052a5a4b4c" /><Relationship Type="http://schemas.openxmlformats.org/officeDocument/2006/relationships/slideMaster" Target="/ppt/slideMasters/slideMaster1.xml" Id="R939d3e1c36b34111" /><Relationship Type="http://schemas.openxmlformats.org/officeDocument/2006/relationships/notesMaster" Target="/ppt/notesMasters/notesMaster1.xml" Id="R1bac375d54784d7e" /><Relationship Type="http://schemas.openxmlformats.org/officeDocument/2006/relationships/presProps" Target="/ppt/presProps.xml" Id="R95643552caa44edd" /><Relationship Type="http://schemas.openxmlformats.org/officeDocument/2006/relationships/tableStyles" Target="/ppt/tableStyles.xml" Id="R1544a6532c6e423d" /><Relationship Type="http://schemas.openxmlformats.org/officeDocument/2006/relationships/slide" Target="/ppt/slides/slide1.xml" Id="R25dbbddbdf4b48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a3653da49243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9caf2ad9dc4450" /><Relationship Type="http://schemas.openxmlformats.org/officeDocument/2006/relationships/notesMaster" Target="/ppt/notesMasters/notesMaster1.xml" Id="R5fe5850b73594c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Los et al. (2020), DOI 10.1016/j.tre.2020.102011; Liu and Chow (2022), DOI 10.1016/j.trb.2022.06.013; Maheshwari et al. (2025), DOI 10.1145/3732290; official UN SDG Goal 9 and Goal 11 pages and communications assets; FP10 outputs/final/release_manifest.json. Evidence is a stylized computational benchmark, not real-world drone traffic evidence. Official course A0 template supplied by COMSCI/ECON 206.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6afe9333ca4c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ac32d54a5b4015" /><Relationship Type="http://schemas.openxmlformats.org/officeDocument/2006/relationships/slideLayout" Target="/ppt/slideLayouts/slideLayout1.xml" Id="R9e0d0f06a97441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0d0f06a97441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b780b69351457c" /><Relationship Type="http://schemas.openxmlformats.org/officeDocument/2006/relationships/image" Target="/ppt/media/image.png" Id="R119450c58714412e" /><Relationship Type="http://schemas.openxmlformats.org/officeDocument/2006/relationships/image" Target="/ppt/media/image2.png" Id="R9a853d835fbc4aca" /><Relationship Type="http://schemas.openxmlformats.org/officeDocument/2006/relationships/image" Target="/ppt/media/image3.png" Id="R0201a133d1204666" /><Relationship Type="http://schemas.openxmlformats.org/officeDocument/2006/relationships/image" Target="/ppt/media/image4.png" Id="R1c1fe2d2494e41d2" /><Relationship Type="http://schemas.openxmlformats.org/officeDocument/2006/relationships/image" Target="/ppt/media/image5.png" Id="R0afb4f0a8d8b421b" /><Relationship Type="http://schemas.openxmlformats.org/officeDocument/2006/relationships/image" Target="/ppt/media/image6.png" Id="R0ffbeacae4034609" /><Relationship Type="http://schemas.openxmlformats.org/officeDocument/2006/relationships/image" Target="/ppt/media/image7.png" Id="R51514d9923ae4f7f" /><Relationship Type="http://schemas.openxmlformats.org/officeDocument/2006/relationships/notesSlide" Target="/ppt/notesSlides/notesSlide1.xml" Id="Rad736e2563ca48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top-brand-rule">
            <a:extLst xmlns:a="http://schemas.openxmlformats.org/drawingml/2006/main"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ine">
            <a:extLst xmlns:a="http://schemas.openxmlformats.org/drawingml/2006/main"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81050"/>
            <a:ext cx="2886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COMSCI / ECON 206   |   FINAL RESEARCH PROJECT   |   AUTUMN 2026</a:t>
            </a:r>
          </a:p>
        </p:txBody>
      </p:sp>
      <p:sp>
        <p:nvSpPr>
          <p:cNvPr id="3" name="version">
            <a:extLst xmlns:a="http://schemas.openxmlformats.org/drawingml/2006/main"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0" y="6153150"/>
            <a:ext cx="9810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/>
            </a:defPPr>
          </a:lstStyle>
          <a:p xmlns:a="http://schemas.openxmlformats.org/drawingml/2006/main">
            <a:pPr algn="r">
              <a:buNone/>
              <a:defRPr sz="195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FINAL PROJECT v2026.10.15</a:t>
            </a:r>
          </a:p>
        </p:txBody>
      </p:sp>
      <p:sp>
        <p:nvSpPr>
          <p:cNvPr id="4" name="project-title">
            <a:extLst xmlns:a="http://schemas.openxmlformats.org/drawingml/2006/main"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3550"/>
            <a:ext cx="291465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800"/>
            </a:defPPr>
          </a:lstStyle>
          <a:p xmlns:a="http://schemas.openxmlformats.org/drawingml/2006/main">
            <a:pPr algn="l">
              <a:buNone/>
              <a:defRPr sz="78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78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Share or Hide? Strategic Disclosure</a:t>
            </a:r>
          </a:p>
          <a:p xmlns:a="http://schemas.openxmlformats.org/drawingml/2006/main">
            <a:pPr algn="l">
              <a:buNone/>
              <a:defRPr sz="78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78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in Congested Low-Altitude Drone Traffic</a:t>
            </a:r>
          </a:p>
        </p:txBody>
      </p:sp>
      <p:sp>
        <p:nvSpPr>
          <p:cNvPr id="5" name="authors">
            <a:extLst xmlns:a="http://schemas.openxmlformats.org/drawingml/2006/main"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2857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900"/>
            </a:defPPr>
          </a:lstStyle>
          <a:p xmlns:a="http://schemas.openxmlformats.org/drawingml/2006/main">
            <a:pPr algn="l">
              <a:buNone/>
              <a:defRPr sz="3900" b="1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90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Yiqiao Liu  |  Team FP10</a:t>
            </a:r>
          </a:p>
        </p:txBody>
      </p:sp>
      <p:sp>
        <p:nvSpPr>
          <p:cNvPr id="6" name="course-instructor">
            <a:extLst xmlns:a="http://schemas.openxmlformats.org/drawingml/2006/main"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29225"/>
            <a:ext cx="2857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0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Course instructor: Professor Luyao Zhang</a:t>
            </a:r>
          </a:p>
        </p:txBody>
      </p:sp>
      <p:pic>
        <p:nvPic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C7065D7-216B-4DE1-AE1D-DAC61FCBEF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450c58714412e"/>
          <a:stretch xmlns:a="http://schemas.openxmlformats.org/drawingml/2006/main"/>
        </p:blipFill>
        <p:spPr>
          <a:xfrm xmlns:a="http://schemas.openxmlformats.org/drawingml/2006/main">
            <a:off x="32575500" y="2190750"/>
            <a:ext cx="8096250" cy="2595818"/>
          </a:xfrm>
          <a:prstGeom xmlns:a="http://schemas.openxmlformats.org/drawingml/2006/main" prst="rect">
            <a:avLst/>
          </a:prstGeom>
        </p:spPr>
      </p:pic>
      <p:sp>
        <p:nvSpPr>
          <p:cNvPr id="8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428040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akeaway-label">
            <a:extLst xmlns:a="http://schemas.openxmlformats.org/drawingml/2006/main"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239000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 MESSAGE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000875"/>
            <a:ext cx="3499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/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Medium-congestion welfare gap falls from 0.946 to 0.050 in the benchmark CCAR example, but the rule also has no-effect and adverse parameter regions.</a:t>
            </a:r>
          </a:p>
        </p:txBody>
      </p:sp>
      <p:sp>
        <p:nvSpPr>
          <p:cNvPr id="11" name="question-model-title">
            <a:extLst xmlns:a="http://schemas.openxmlformats.org/drawingml/2006/main"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525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01   Question and foundations</a:t>
            </a:r>
          </a:p>
        </p:txBody>
      </p:sp>
      <p:sp>
        <p:nvSpPr>
          <p:cNvPr id="12" name="question-model-title-rule">
            <a:extLst xmlns:a="http://schemas.openxmlformats.org/drawingml/2006/main"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506075"/>
            <a:ext cx="1104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search-question-heading">
            <a:extLst xmlns:a="http://schemas.openxmlformats.org/drawingml/2006/main"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144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Research question &amp; verified gap</a:t>
            </a:r>
          </a:p>
        </p:txBody>
      </p:sp>
      <p:sp>
        <p:nvSpPr>
          <p:cNvPr id="14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906250"/>
            <a:ext cx="11049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/>
            </a:defPPr>
          </a:lstStyle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When do private confidentiality costs and public congestion make voluntary M/P/F disclosure inefficient, and when does CCAR improve welfare?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Closest work: Los et al. (2020); Liu &amp; Chow (2022); Maheshwari et al. (2025).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Contribution: a reproducible stylized comparison with failure regions, not a theorem or aviation field result.</a:t>
            </a:r>
          </a:p>
        </p:txBody>
      </p:sp>
      <p:sp>
        <p:nvSpPr>
          <p:cNvPr id="15" name="model-heading">
            <a:extLst xmlns:a="http://schemas.openxmlformats.org/drawingml/2006/main"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1447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Strategic model and Intellectual Merits</a:t>
            </a:r>
          </a:p>
        </p:txBody>
      </p:sp>
      <p:sp>
        <p:nvSpPr>
          <p:cNvPr id="16" name="model">
            <a:extLst xmlns:a="http://schemas.openxmlformats.org/drawingml/2006/main"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906750"/>
            <a:ext cx="11049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/>
            </a:defPPr>
          </a:lstStyle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7" name="lenses-heading">
            <a:extLst xmlns:a="http://schemas.openxmlformats.org/drawingml/2006/main"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526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Three complementary lenses</a:t>
            </a:r>
          </a:p>
        </p:txBody>
      </p:sp>
      <p:sp>
        <p:nvSpPr>
          <p:cNvPr id="18" name="lenses">
            <a:extLst xmlns:a="http://schemas.openxmlformats.org/drawingml/2006/main"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288250"/>
            <a:ext cx="11049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/>
            </a:defPPr>
          </a:lstStyle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Game theory predicts complete type-contingent pure BNE.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Social choice compares operator utility with total welfare and an infeasible type-observing reference.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Mechanism design tests a congestion-contingent rule for enhanced, non-safety access.</a:t>
            </a:r>
          </a:p>
        </p:txBody>
      </p:sp>
      <p:sp>
        <p:nvSpPr>
          <p:cNvPr id="19" name="auction-heading">
            <a:extLst xmlns:a="http://schemas.openxmlformats.org/drawingml/2006/main"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336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Auction or allocation comparison</a:t>
            </a:r>
          </a:p>
        </p:txBody>
      </p:sp>
      <p:sp>
        <p:nvSpPr>
          <p:cNvPr id="20" name="auction">
            <a:extLst xmlns:a="http://schemas.openxmlformats.org/drawingml/2006/main"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98250"/>
            <a:ext cx="11049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/>
            </a:defPPr>
          </a:lstStyle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One residual commercial priority slot. FCFS: first eligible request, zero payment. Second-price auction: highest bid wins, pays second bid.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Seed-206 simulation: mean efficiency 0.622 vs 1.000. Emergency and public-safety missions remain outside payment-based access.</a:t>
            </a:r>
          </a:p>
        </p:txBody>
      </p:sp>
      <p:sp>
        <p:nvSpPr>
          <p:cNvPr id="21" name="design-evidence-title">
            <a:extLst xmlns:a="http://schemas.openxmlformats.org/drawingml/2006/main"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9525000"/>
            <a:ext cx="16134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02   Model and verified evidence</a:t>
            </a:r>
          </a:p>
        </p:txBody>
      </p:sp>
      <p:sp>
        <p:nvSpPr>
          <p:cNvPr id="22" name="design-evidence-title-rule">
            <a:extLst xmlns:a="http://schemas.openxmlformats.org/drawingml/2006/main"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0506075"/>
            <a:ext cx="1613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search-design-area">
            <a:extLst xmlns:a="http://schemas.openxmlformats.org/drawingml/2006/main"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1144250"/>
            <a:ext cx="161340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7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24" name="research-design-label">
            <a:extLst xmlns:a="http://schemas.openxmlformats.org/drawingml/2006/main">
              <a:ext uri="{FF2B5EF4-FFF2-40B4-BE49-F238E27FC236}">
                <a16:creationId xmlns:a16="http://schemas.microsoft.com/office/drawing/2014/main" id="{8126654C-9B1A-4166-BD33-50CD41EA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4125" y="12917805"/>
            <a:ext cx="14895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ctr">
              <a:buNone/>
              <a:defRPr sz="36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5" name="research-design-prompt">
            <a:extLst xmlns:a="http://schemas.openxmlformats.org/drawingml/2006/main">
              <a:ext uri="{FF2B5EF4-FFF2-40B4-BE49-F238E27FC236}">
                <a16:creationId xmlns:a16="http://schemas.microsoft.com/office/drawing/2014/main" id="{FB9F3C40-7F71-42C4-93FE-A2A20CF3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75" y="14013180"/>
            <a:ext cx="143242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ctr">
              <a:buNone/>
              <a:defRPr sz="29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9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6" name="design-caption">
            <a:extLst xmlns:a="http://schemas.openxmlformats.org/drawingml/2006/main"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6097250"/>
            <a:ext cx="16134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/>
            </a:defPPr>
          </a:lstStyle>
          <a:p xmlns:a="http://schemas.openxmlformats.org/drawingml/2006/main">
            <a:pPr algn="l">
              <a:buNone/>
              <a:defRPr sz="23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Figure 1. Three closest foundations feed an endogenous-disclosure Bayesian model, welfare benchmark, CCAR test, and explicit limitations.</a:t>
            </a:r>
          </a:p>
        </p:txBody>
      </p:sp>
      <p:sp>
        <p:nvSpPr>
          <p:cNvPr id="27" name="main-result-area">
            <a:extLst xmlns:a="http://schemas.openxmlformats.org/drawingml/2006/main"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7621250"/>
            <a:ext cx="16134000" cy="628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7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28" name="main-result-label">
            <a:extLst xmlns:a="http://schemas.openxmlformats.org/drawingml/2006/main">
              <a:ext uri="{FF2B5EF4-FFF2-40B4-BE49-F238E27FC236}">
                <a16:creationId xmlns:a16="http://schemas.microsoft.com/office/drawing/2014/main" id="{A95FDDB5-DC34-4CBB-B5F4-3B143142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4125" y="20010120"/>
            <a:ext cx="14895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ctr">
              <a:buNone/>
              <a:defRPr sz="36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9" name="main-result-prompt">
            <a:extLst xmlns:a="http://schemas.openxmlformats.org/drawingml/2006/main">
              <a:ext uri="{FF2B5EF4-FFF2-40B4-BE49-F238E27FC236}">
                <a16:creationId xmlns:a16="http://schemas.microsoft.com/office/drawing/2014/main" id="{20FD9DFC-1B88-4B17-A251-EA9C62AC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75" y="21105495"/>
            <a:ext cx="143242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ctr">
              <a:buNone/>
              <a:defRPr sz="29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9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0" name="result-caption">
            <a:extLst xmlns:a="http://schemas.openxmlformats.org/drawingml/2006/main"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241125"/>
            <a:ext cx="161340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/>
            </a:defPPr>
          </a:lstStyle>
          <a:p xmlns:a="http://schemas.openxmlformats.org/drawingml/2006/main">
            <a:pPr algn="l">
              <a:buNone/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Figure 2. Expected normalized welfare. Low: 0.000 / 0.639. Medium: 2.193 / 3.089 / 3.139. High: 6.882 / 6.882 / 7.385 (BNE / CCAR / first best).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760 deterministic grid cells: 401 no-effect; 334 robust improvements; 18 excessive-disclosure flags; 3 larger-gap; 66 multiple CCAR BNE. Diagnostics overlap.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Verification: outputs/final/; exhaustive 81-profile search. Evidence: stylized computation.</a:t>
            </a:r>
          </a:p>
        </p:txBody>
      </p:sp>
      <p:sp>
        <p:nvSpPr>
          <p:cNvPr id="31" name="impact-title">
            <a:extLst xmlns:a="http://schemas.openxmlformats.org/drawingml/2006/main"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9525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03   Practical impacts and roadmap</a:t>
            </a:r>
          </a:p>
        </p:txBody>
      </p:sp>
      <p:sp>
        <p:nvSpPr>
          <p:cNvPr id="32" name="impact-title-rule">
            <a:extLst xmlns:a="http://schemas.openxmlformats.org/drawingml/2006/main"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0506075"/>
            <a:ext cx="1104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real-world-heading">
            <a:extLst xmlns:a="http://schemas.openxmlformats.org/drawingml/2006/main"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1144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Practical Impacts diagram with SDG targets</a:t>
            </a:r>
          </a:p>
        </p:txBody>
      </p:sp>
      <p:sp>
        <p:nvSpPr>
          <p:cNvPr id="34" name="real-world">
            <a:extLst xmlns:a="http://schemas.openxmlformats.org/drawingml/2006/main"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1906250"/>
            <a:ext cx="11049000" cy="3571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interdisciplinary-heading">
            <a:extLst xmlns:a="http://schemas.openxmlformats.org/drawingml/2006/main"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58115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Future Research Roadmap new diagram</a:t>
            </a:r>
          </a:p>
        </p:txBody>
      </p:sp>
      <p:sp>
        <p:nvSpPr>
          <p:cNvPr id="36" name="interdisciplinary">
            <a:extLst xmlns:a="http://schemas.openxmlformats.org/drawingml/2006/main"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6573500"/>
            <a:ext cx="11049000" cy="523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l">
              <a:buNone/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limits-heading">
            <a:extLst xmlns:a="http://schemas.openxmlformats.org/drawingml/2006/main"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2193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Integration and updated named contributions</a:t>
            </a:r>
          </a:p>
        </p:txBody>
      </p:sp>
      <p:sp>
        <p:nvSpPr>
          <p:cNvPr id="38" name="limits">
            <a:extLst xmlns:a="http://schemas.openxmlformats.org/drawingml/2006/main"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2955250"/>
            <a:ext cx="110490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/>
            </a:defPPr>
          </a:lstStyle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Economics defines incentives and welfare; computation exposes failure regions; those failures narrow the practical claim and motivate comprehension/fairness tests.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Yiqiao Liu: model boundary, code, experiments, interface, paper and poster; 65 baseline tests and fresh artifact verification.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Limits: two operators/types, exogenous congestion, pure strategies, no calibration, report-quality or implementation-cost model.</a:t>
            </a:r>
          </a:p>
        </p:txBody>
      </p:sp>
      <p:sp>
        <p:nvSpPr>
          <p:cNvPr id="39" name="dates">
            <a:extLst xmlns:a="http://schemas.openxmlformats.org/drawingml/2006/main">
              <a:ext uri="{FF2B5EF4-FFF2-40B4-BE49-F238E27FC236}">
                <a16:creationId xmlns:a16="http://schemas.microsoft.com/office/drawing/2014/main" id="{EA157D18-CC9B-4A0B-91A5-3BE26B8F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5812750"/>
            <a:ext cx="1104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/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OCT 12 / OCT 14 historical activity records: author confirmation pending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OCT 21  Final submission at 23:00 Shanghai</a:t>
            </a:r>
          </a:p>
        </p:txBody>
      </p:sp>
      <p:sp>
        <p:nvSpPr>
          <p:cNvPr id="4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527250"/>
            <a:ext cx="4013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ack-heading">
            <a:extLst xmlns:a="http://schemas.openxmlformats.org/drawingml/2006/main"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8130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Full acknowledgments</a:t>
            </a:r>
          </a:p>
        </p:txBody>
      </p:sp>
      <p:sp>
        <p:nvSpPr>
          <p:cNvPr id="42" name="ack">
            <a:extLst xmlns:a="http://schemas.openxmlformats.org/drawingml/2006/main"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479750"/>
            <a:ext cx="110490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/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Prof. Luyao Zhang: course design and official templates. Prof. Kenneth S. (Ken) Rogerson: documented course-workshop context; no direct FP10 review claimed. Han Zhang: proposed three-party oversight extension. Xinrong Sun: novelty, domain, congestion-benefit and CCAR-externality challenges (author-supplied summaries; source records pending). Tencent Shanghai office; Shanghai Science and Technology Museum; COMSCI/ECON 206 classroom community. UN SDG assets; Python/NumPy/Matplotlib/nbclient/Gradio/Playwright/ACM template; OpenAI Codex assistance. Yiqiao Liu remains responsible.</a:t>
            </a:r>
          </a:p>
        </p:txBody>
      </p:sp>
      <p:sp>
        <p:nvSpPr>
          <p:cNvPr id="43" name="references-heading">
            <a:extLst xmlns:a="http://schemas.openxmlformats.org/drawingml/2006/main"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7813000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 xmlns:a="http://schemas.openxmlformats.org/drawingml/2006/main"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8479750"/>
            <a:ext cx="14192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/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Los et al. (2020), Transp. Res. E 141, 102011. doi:10.1016/j.tre.2020.102011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Liu &amp; Chow (2022), Transp. Res. B 163, 64–87. doi:10.1016/j.trb.2022.06.013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Maheshwari et al. (2025), ACM JATS 2(4), Art. 19. doi:10.1145/3732290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UN SDG targets 9.1 and 11.2: sdgs.un.org/goals</a:t>
            </a:r>
          </a:p>
        </p:txBody>
      </p:sp>
      <p:sp>
        <p:nvSpPr>
          <p:cNvPr id="45" name="access-heading">
            <a:extLst xmlns:a="http://schemas.openxmlformats.org/drawingml/2006/main"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7813000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 xmlns:a="http://schemas.openxmlformats.org/drawingml/2006/main"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8384500"/>
            <a:ext cx="8096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/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Hugging Face: hf.co/spaces/dku-comsci-econ206-2026/ps2-share-or-hide-drone-disclosure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GitHub: github.com/dku-comsci-econ206-Autumn2026/PS2-FP10-ShareOrHide-Yiqiao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Final tested commit: pending final verification commit</a:t>
            </a:r>
          </a:p>
        </p:txBody>
      </p:sp>
      <p:sp>
        <p:nvSpPr>
          <p:cNvPr id="47" name="hf-qr-placeholder">
            <a:extLst xmlns:a="http://schemas.openxmlformats.org/drawingml/2006/main">
              <a:ext uri="{FF2B5EF4-FFF2-40B4-BE49-F238E27FC236}">
                <a16:creationId xmlns:a16="http://schemas.microsoft.com/office/drawing/2014/main" id="{296FE813-8DC2-4185-ADA6-A77390D7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32125" y="28403550"/>
            <a:ext cx="876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48" name="hf-qr-label">
            <a:extLst xmlns:a="http://schemas.openxmlformats.org/drawingml/2006/main">
              <a:ext uri="{FF2B5EF4-FFF2-40B4-BE49-F238E27FC236}">
                <a16:creationId xmlns:a16="http://schemas.microsoft.com/office/drawing/2014/main" id="{E242BD6C-81B6-4B83-927B-ABE99A7D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98800" y="28508325"/>
            <a:ext cx="7429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/>
            </a:defPPr>
          </a:lstStyle>
          <a:p xmlns:a="http://schemas.openxmlformats.org/drawingml/2006/main">
            <a:pPr algn="ctr">
              <a:buNone/>
              <a:defRPr sz="180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github-qr-placeholder">
            <a:extLst xmlns:a="http://schemas.openxmlformats.org/drawingml/2006/main">
              <a:ext uri="{FF2B5EF4-FFF2-40B4-BE49-F238E27FC236}">
                <a16:creationId xmlns:a16="http://schemas.microsoft.com/office/drawing/2014/main" id="{63890B80-6191-47DE-888B-3D958CCA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98950" y="28403550"/>
            <a:ext cx="876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50" name="github-qr-label">
            <a:extLst xmlns:a="http://schemas.openxmlformats.org/drawingml/2006/main">
              <a:ext uri="{FF2B5EF4-FFF2-40B4-BE49-F238E27FC236}">
                <a16:creationId xmlns:a16="http://schemas.microsoft.com/office/drawing/2014/main" id="{ADAD9B08-81E1-4FA5-99E7-6DC63E0C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8000" y="28508325"/>
            <a:ext cx="857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/>
            </a:defPPr>
          </a:lstStyle>
          <a:p xmlns:a="http://schemas.openxmlformats.org/drawingml/2006/main">
            <a:pPr algn="ctr">
              <a:buNone/>
              <a:defRPr sz="17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format-note">
            <a:extLst xmlns:a="http://schemas.openxmlformats.org/drawingml/2006/main">
              <a:ext uri="{FF2B5EF4-FFF2-40B4-BE49-F238E27FC236}">
                <a16:creationId xmlns:a16="http://schemas.microsoft.com/office/drawing/2014/main" id="{49DEC60E-E378-41A7-B1C9-EC4712C5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000750"/>
            <a:ext cx="2857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A0 landscape 1189 × 841 mm. Submit PPTX + PDF. Commit poster PDF/preview to GitHub and embed in ROOT README.md.</a:t>
            </a:r>
          </a:p>
        </p:txBody>
      </p:sp>
      <p:pic>
        <p:nvPic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2B6D808-CE39-46B9-BBE9-543ED70D83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853d835fbc4aca"/>
          <a:stretch xmlns:a="http://schemas.openxmlformats.org/drawingml/2006/main"/>
        </p:blipFill>
        <p:spPr>
          <a:xfrm xmlns:a="http://schemas.openxmlformats.org/drawingml/2006/main">
            <a:off x="17423342" y="11239500"/>
            <a:ext cx="7958667" cy="4476750"/>
          </a:xfrm>
          <a:prstGeom xmlns:a="http://schemas.openxmlformats.org/drawingml/2006/main" prst="rect">
            <a:avLst/>
          </a:prstGeom>
        </p:spPr>
      </p:pic>
      <p:pic>
        <p:nvPic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05BC589-C514-414B-B69B-ED6B0F196A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01a133d1204666"/>
          <a:stretch xmlns:a="http://schemas.openxmlformats.org/drawingml/2006/main"/>
        </p:blipFill>
        <p:spPr>
          <a:xfrm xmlns:a="http://schemas.openxmlformats.org/drawingml/2006/main">
            <a:off x="16300721" y="17954625"/>
            <a:ext cx="10165808" cy="5619750"/>
          </a:xfrm>
          <a:prstGeom xmlns:a="http://schemas.openxmlformats.org/drawingml/2006/main" prst="rect">
            <a:avLst/>
          </a:prstGeom>
        </p:spPr>
      </p:pic>
      <p:pic>
        <p:nvPic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CA03783-CAEF-46B9-836B-C79A30A6A6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fe2d2494e41d2"/>
          <a:stretch xmlns:a="http://schemas.openxmlformats.org/drawingml/2006/main"/>
        </p:blipFill>
        <p:spPr>
          <a:xfrm xmlns:a="http://schemas.openxmlformats.org/drawingml/2006/main">
            <a:off x="32593492" y="11858625"/>
            <a:ext cx="6688667" cy="3762375"/>
          </a:xfrm>
          <a:prstGeom xmlns:a="http://schemas.openxmlformats.org/drawingml/2006/main" prst="rect">
            <a:avLst/>
          </a:prstGeom>
        </p:spPr>
      </p:pic>
      <p:pic>
        <p:nvPic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CC217F8-67EA-46C3-BA87-9ED5F9E7D4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b4f0a8d8b421b"/>
          <a:stretch xmlns:a="http://schemas.openxmlformats.org/drawingml/2006/main"/>
        </p:blipFill>
        <p:spPr>
          <a:xfrm xmlns:a="http://schemas.openxmlformats.org/drawingml/2006/main">
            <a:off x="31154158" y="16525875"/>
            <a:ext cx="9567333" cy="5381625"/>
          </a:xfrm>
          <a:prstGeom xmlns:a="http://schemas.openxmlformats.org/drawingml/2006/main" prst="rect">
            <a:avLst/>
          </a:prstGeom>
        </p:spPr>
      </p:pic>
      <p:pic>
        <p:nvPic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2B2E789-CCAC-4DF1-8AFB-D6D84725D6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fbeacae4034609"/>
          <a:stretch xmlns:a="http://schemas.openxmlformats.org/drawingml/2006/main"/>
        </p:blipFill>
        <p:spPr>
          <a:xfrm xmlns:a="http://schemas.openxmlformats.org/drawingml/2006/main">
            <a:off x="39128700" y="28251150"/>
            <a:ext cx="1095375" cy="1095375"/>
          </a:xfrm>
          <a:prstGeom xmlns:a="http://schemas.openxmlformats.org/drawingml/2006/main" prst="rect">
            <a:avLst/>
          </a:prstGeom>
        </p:spPr>
      </p:pic>
      <p:pic>
        <p:nvPic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8599B60-D089-455F-B16D-8F5D1FA054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514d9923ae4f7f"/>
          <a:stretch xmlns:a="http://schemas.openxmlformats.org/drawingml/2006/main"/>
        </p:blipFill>
        <p:spPr>
          <a:xfrm xmlns:a="http://schemas.openxmlformats.org/drawingml/2006/main">
            <a:off x="40338375" y="28251150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C36D833-B549-430B-B070-B3F40CB8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859125"/>
            <a:ext cx="10810875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3FB"/>
          </a:solidFill>
          <a:ln xmlns:a="http://schemas.openxmlformats.org/drawingml/2006/main" w="19050">
            <a:solidFill>
              <a:srgbClr val="315EF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8324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4A"/>
                </a:solidFill>
              </a:defRPr>
            </a:pPr>
            <a:r>
              <a:rPr sz="2100" b="0">
                <a:solidFill>
                  <a:srgbClr val="18324A"/>
                </a:solidFill>
              </a:rPr>
              <a:t>PRIVATE TYPE   Low or High confidentiality cost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F51A2F7-A1A8-42AF-8EFA-44F0C17E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678275"/>
            <a:ext cx="10810875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3FB"/>
          </a:solidFill>
          <a:ln xmlns:a="http://schemas.openxmlformats.org/drawingml/2006/main" w="19050">
            <a:solidFill>
              <a:srgbClr val="315EF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8324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4A"/>
                </a:solidFill>
              </a:defRPr>
            </a:pPr>
            <a:r>
              <a:rPr sz="2100" b="0">
                <a:solidFill>
                  <a:srgbClr val="18324A"/>
                </a:solidFill>
              </a:rPr>
              <a:t>ACTION   Minimum / Partial / Full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B429CAD-7C0F-4283-917D-5D8EDC01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7497425"/>
            <a:ext cx="10810875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3FB"/>
          </a:solidFill>
          <a:ln xmlns:a="http://schemas.openxmlformats.org/drawingml/2006/main" w="19050">
            <a:solidFill>
              <a:srgbClr val="315EF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8324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4A"/>
                </a:solidFill>
              </a:defRPr>
            </a:pPr>
            <a:r>
              <a:rPr sz="2100" b="0">
                <a:solidFill>
                  <a:srgbClr val="18324A"/>
                </a:solidFill>
              </a:rPr>
              <a:t>BNE   Best response to rival's type strategy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FC25209-98C7-4A7E-B043-7673837A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316575"/>
            <a:ext cx="10810875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9050">
            <a:solidFill>
              <a:srgbClr val="14877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8324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4A"/>
                </a:solidFill>
              </a:defRPr>
            </a:pPr>
            <a:r>
              <a:rPr sz="2100" b="0">
                <a:solidFill>
                  <a:srgbClr val="18324A"/>
                </a:solidFill>
              </a:rPr>
              <a:t>CCAR   Minimum access factor αM at Medium/High</a:t>
            </a:r>
          </a:p>
        </p:txBody>
      </p:sp>
    </p:spTree>
    <p:extLst>
      <p:ext uri="{BB962C8B-B14F-4D97-AF65-F5344CB8AC3E}">
        <p14:creationId xmlns:p14="http://schemas.microsoft.com/office/powerpoint/2010/main" val="813982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2026-10-15T04:37:52.0850000Z</dcterms:created>
  <dcterms:modified xsi:type="dcterms:W3CDTF">2026-10-15T04:37:52.0850000Z</dcterms:modified>
</coreProperties>
</file>