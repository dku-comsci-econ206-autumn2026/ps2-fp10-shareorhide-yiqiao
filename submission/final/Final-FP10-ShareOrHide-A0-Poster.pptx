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6a173989994037" /><Relationship Type="http://schemas.openxmlformats.org/officeDocument/2006/relationships/extended-properties" Target="/docProps/app.xml" Id="Rd36d9e26be634e3a" /><Relationship Type="http://schemas.openxmlformats.org/officeDocument/2006/relationships/officeDocument" Target="/ppt/presentation.xml" Id="Rca8fe022e6544b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01415a48d7460a"/>
  </p:sldMasterIdLst>
  <p:notesMasterIdLst>
    <p:notesMasterId xmlns:r="http://schemas.openxmlformats.org/officeDocument/2006/relationships" r:id="R41ec0170ae704040"/>
  </p:notesMasterIdLst>
  <p:sldIdLst>
    <p:sldId xmlns:r="http://schemas.openxmlformats.org/officeDocument/2006/relationships" id="256" r:id="Rf6334f3ef7604858"/>
  </p:sldIdLst>
  <p:sldSz cx="4280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0dd995f44e4dc8" /><Relationship Type="http://schemas.openxmlformats.org/officeDocument/2006/relationships/slideMaster" Target="/ppt/slideMasters/slideMaster1.xml" Id="R4501415a48d7460a" /><Relationship Type="http://schemas.openxmlformats.org/officeDocument/2006/relationships/notesMaster" Target="/ppt/notesMasters/notesMaster1.xml" Id="R41ec0170ae704040" /><Relationship Type="http://schemas.openxmlformats.org/officeDocument/2006/relationships/presProps" Target="/ppt/presProps.xml" Id="R0001574983644b72" /><Relationship Type="http://schemas.openxmlformats.org/officeDocument/2006/relationships/tableStyles" Target="/ppt/tableStyles.xml" Id="R8bc3c5851e98460a" /><Relationship Type="http://schemas.openxmlformats.org/officeDocument/2006/relationships/slide" Target="/ppt/slides/slide1.xml" Id="Rf6334f3ef76048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fc9d50c84e49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6cda3ea8114c7c" /><Relationship Type="http://schemas.openxmlformats.org/officeDocument/2006/relationships/notesMaster" Target="/ppt/notesMasters/notesMaster1.xml" Id="R8e01da5f087e4f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Los et al. (2020), DOI 10.1016/j.tre.2020.102011; Liu and Chow (2022), DOI 10.1016/j.trb.2022.06.013; Maheshwari et al. (2025), DOI 10.1145/3732290; official UN SDG Goal 9 and Goal 11 pages and communications assets; FP10 outputs/final/release_manifest.json. Evidence is a stylized computational benchmark, not real-world drone traffic evidence. Official course A0 template supplied by COMSCI/ECON 206.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1719e7b9b4d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425c497c7d4117" /><Relationship Type="http://schemas.openxmlformats.org/officeDocument/2006/relationships/slideLayout" Target="/ppt/slideLayouts/slideLayout1.xml" Id="Rb4380da22b064c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380da22b064c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3a4599d0d4786" /><Relationship Type="http://schemas.openxmlformats.org/officeDocument/2006/relationships/image" Target="/ppt/media/image.png" Id="R318832318d9e4251" /><Relationship Type="http://schemas.openxmlformats.org/officeDocument/2006/relationships/image" Target="/ppt/media/image2.png" Id="Ra2aeb8bac70a4159" /><Relationship Type="http://schemas.openxmlformats.org/officeDocument/2006/relationships/image" Target="/ppt/media/image3.png" Id="Rd4caccfef9664c80" /><Relationship Type="http://schemas.openxmlformats.org/officeDocument/2006/relationships/image" Target="/ppt/media/image4.png" Id="R16c5da65304345d8" /><Relationship Type="http://schemas.openxmlformats.org/officeDocument/2006/relationships/image" Target="/ppt/media/image5.png" Id="R6662c1f210f74f56" /><Relationship Type="http://schemas.openxmlformats.org/officeDocument/2006/relationships/image" Target="/ppt/media/image6.png" Id="Rf0757bb09d644c76" /><Relationship Type="http://schemas.openxmlformats.org/officeDocument/2006/relationships/image" Target="/ppt/media/image7.png" Id="R1edd55b1a92643ee" /><Relationship Type="http://schemas.openxmlformats.org/officeDocument/2006/relationships/notesSlide" Target="/ppt/notesSlides/notesSlide1.xml" Id="R2fe81195723c4f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op-brand-rule">
            <a:extLst xmlns:a="http://schemas.openxmlformats.org/drawingml/2006/main"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ine">
            <a:extLst xmlns:a="http://schemas.openxmlformats.org/drawingml/2006/main"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81050"/>
            <a:ext cx="2886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RESEARCH PROJECT   |   AUTUMN 2026</a:t>
            </a:r>
          </a:p>
        </p:txBody>
      </p:sp>
      <p:sp>
        <p:nvSpPr>
          <p:cNvPr id="3" name="version">
            <a:extLst xmlns:a="http://schemas.openxmlformats.org/drawingml/2006/main"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0" y="6153150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/>
            </a:defPPr>
          </a:lstStyle>
          <a:p xmlns:a="http://schemas.openxmlformats.org/drawingml/2006/main">
            <a:pPr algn="r">
              <a:buNone/>
              <a:defRPr sz="195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PROJECT v2026.10.15</a:t>
            </a:r>
          </a:p>
        </p:txBody>
      </p:sp>
      <p:sp>
        <p:nvSpPr>
          <p:cNvPr id="4" name="project-title">
            <a:extLst xmlns:a="http://schemas.openxmlformats.org/drawingml/2006/main"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29146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800"/>
            </a:defPPr>
          </a:lstStyle>
          <a:p xmlns:a="http://schemas.openxmlformats.org/drawingml/2006/main">
            <a:pPr algn="l">
              <a:buNone/>
              <a:defRPr sz="78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8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Share or Hide? Strategic Disclosure</a:t>
            </a:r>
          </a:p>
          <a:p xmlns:a="http://schemas.openxmlformats.org/drawingml/2006/main">
            <a:pPr algn="l">
              <a:buNone/>
              <a:defRPr sz="78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8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 Congested Low-Altitude Drone Traffic</a:t>
            </a:r>
          </a:p>
        </p:txBody>
      </p:sp>
      <p:sp>
        <p:nvSpPr>
          <p:cNvPr id="5" name="authors">
            <a:extLst xmlns:a="http://schemas.openxmlformats.org/drawingml/2006/main"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857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/>
            </a:defPPr>
          </a:lstStyle>
          <a:p xmlns:a="http://schemas.openxmlformats.org/drawingml/2006/main">
            <a:pPr algn="l">
              <a:buNone/>
              <a:defRPr sz="390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90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Yiqiao Liu  |  Team FP10</a:t>
            </a:r>
          </a:p>
        </p:txBody>
      </p:sp>
      <p:sp>
        <p:nvSpPr>
          <p:cNvPr id="6" name="course-instructor">
            <a:extLst xmlns:a="http://schemas.openxmlformats.org/drawingml/2006/main"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29225"/>
            <a:ext cx="2857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BC98D8-729C-44F7-A80B-78D13D8305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832318d9e4251"/>
          <a:stretch xmlns:a="http://schemas.openxmlformats.org/drawingml/2006/main"/>
        </p:blipFill>
        <p:spPr>
          <a:xfrm xmlns:a="http://schemas.openxmlformats.org/drawingml/2006/main">
            <a:off x="32575500" y="2190750"/>
            <a:ext cx="8096250" cy="2595818"/>
          </a:xfrm>
          <a:prstGeom xmlns:a="http://schemas.openxmlformats.org/drawingml/2006/main" prst="rect">
            <a:avLst/>
          </a:prstGeom>
        </p:spPr>
      </p:pic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42804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239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000875"/>
            <a:ext cx="3499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/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Medium-congestion welfare gap falls from 0.946 to 0.050 in the benchmark CCAR example, but the rule also has no-effect and adverse parameter regions.</a:t>
            </a:r>
          </a:p>
        </p:txBody>
      </p:sp>
      <p:sp>
        <p:nvSpPr>
          <p:cNvPr id="11" name="question-model-title">
            <a:extLst xmlns:a="http://schemas.openxmlformats.org/drawingml/2006/main"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525000"/>
            <a:ext cx="1028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and foundations</a:t>
            </a:r>
          </a:p>
        </p:txBody>
      </p:sp>
      <p:sp>
        <p:nvSpPr>
          <p:cNvPr id="12" name="question-model-title-rule">
            <a:extLst xmlns:a="http://schemas.openxmlformats.org/drawingml/2006/main"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506075"/>
            <a:ext cx="1028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search-question-heading">
            <a:extLst xmlns:a="http://schemas.openxmlformats.org/drawingml/2006/main"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1442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906250"/>
            <a:ext cx="10287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When do private confidentiality costs and public congestion make voluntary M/P/F disclosure inefficient, and when does CCAR improve welfare?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Closest work: Los et al. (2020); Liu &amp; Chow (2022); Maheshwari et al. (2025).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Contribution: a reproducible stylized comparison with failure regions, not a theorem or aviation field result.</a:t>
            </a:r>
          </a:p>
        </p:txBody>
      </p:sp>
      <p:sp>
        <p:nvSpPr>
          <p:cNvPr id="15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9542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 and Intellectual Merits</a:t>
            </a:r>
          </a:p>
        </p:txBody>
      </p:sp>
      <p:sp>
        <p:nvSpPr>
          <p:cNvPr id="16" name="model">
            <a:extLst xmlns:a="http://schemas.openxmlformats.org/drawingml/2006/main"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668625"/>
            <a:ext cx="102870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7" name="lenses-heading">
            <a:extLst xmlns:a="http://schemas.openxmlformats.org/drawingml/2006/main"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8595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complementary lenses</a:t>
            </a:r>
          </a:p>
        </p:txBody>
      </p:sp>
      <p:sp>
        <p:nvSpPr>
          <p:cNvPr id="18" name="lenses">
            <a:extLst xmlns:a="http://schemas.openxmlformats.org/drawingml/2006/main"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621500"/>
            <a:ext cx="10287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 predicts complete type-contingent pure BNE.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 compares operator utility with total welfare and an infeasible type-observing reference.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 tests a congestion-contingent rule for enhanced, non-safety access.</a:t>
            </a:r>
          </a:p>
        </p:txBody>
      </p:sp>
      <p:sp>
        <p:nvSpPr>
          <p:cNvPr id="19" name="auction-heading">
            <a:extLst xmlns:a="http://schemas.openxmlformats.org/drawingml/2006/main"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5742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Auction or allocation comparison</a:t>
            </a:r>
          </a:p>
        </p:txBody>
      </p:sp>
      <p:sp>
        <p:nvSpPr>
          <p:cNvPr id="20" name="auction">
            <a:extLst xmlns:a="http://schemas.openxmlformats.org/drawingml/2006/main"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336250"/>
            <a:ext cx="10287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/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One residual commercial priority slot. FCFS: first eligible request, zero payment. Second-price auction: highest bid wins, pays second bid.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Seed-206 simulation: mean efficiency 0.622 vs 1.000. Emergency and public-safety missions remain outside payment-based access.</a:t>
            </a:r>
          </a:p>
        </p:txBody>
      </p:sp>
      <p:sp>
        <p:nvSpPr>
          <p:cNvPr id="21" name="design-evidence-title">
            <a:extLst xmlns:a="http://schemas.openxmlformats.org/drawingml/2006/main"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9525000"/>
            <a:ext cx="1809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Model and verified evidence</a:t>
            </a:r>
          </a:p>
        </p:txBody>
      </p:sp>
      <p:sp>
        <p:nvSpPr>
          <p:cNvPr id="22" name="design-evidence-title-rule">
            <a:extLst xmlns:a="http://schemas.openxmlformats.org/drawingml/2006/main"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0506075"/>
            <a:ext cx="1809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search-design-area">
            <a:extLst xmlns:a="http://schemas.openxmlformats.org/drawingml/2006/main"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1144250"/>
            <a:ext cx="18097500" cy="547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4" name="research-design-label">
            <a:extLst xmlns:a="http://schemas.openxmlformats.org/drawingml/2006/main"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13049250"/>
            <a:ext cx="16859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5" name="research-design-prompt">
            <a:extLst xmlns:a="http://schemas.openxmlformats.org/drawingml/2006/main">
              <a:ext uri="{FF2B5EF4-FFF2-40B4-BE49-F238E27FC236}">
                <a16:creationId xmlns:a16="http://schemas.microsoft.com/office/drawing/2014/main" id="{FB9F3C40-7F71-42C4-93FE-A2A20CF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75" y="14097000"/>
            <a:ext cx="162877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design-caption">
            <a:extLst xmlns:a="http://schemas.openxmlformats.org/drawingml/2006/main"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6764000"/>
            <a:ext cx="1809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/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Closest foundations lead to an endogenous-disclosure Bayesian model, verified BNE and welfare, proposed CCAR, computation, and explicit limitations.</a:t>
            </a:r>
          </a:p>
        </p:txBody>
      </p:sp>
      <p:sp>
        <p:nvSpPr>
          <p:cNvPr id="27" name="main-result-area">
            <a:extLst xmlns:a="http://schemas.openxmlformats.org/drawingml/2006/main"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7621250"/>
            <a:ext cx="12001500" cy="676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8" name="main-result-label">
            <a:extLst xmlns:a="http://schemas.openxmlformats.org/drawingml/2006/main"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0" y="17621250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3000"/>
            </a:defPPr>
          </a:lstStyle>
          <a:p xmlns:a="http://schemas.openxmlformats.org/drawingml/2006/main">
            <a:pPr algn="l">
              <a:buNone/>
              <a:defRPr sz="30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Robustness and verification</a:t>
            </a:r>
          </a:p>
        </p:txBody>
      </p:sp>
      <p:sp>
        <p:nvSpPr>
          <p:cNvPr id="29" name="main-result-prompt">
            <a:extLst xmlns:a="http://schemas.openxmlformats.org/drawingml/2006/main">
              <a:ext uri="{FF2B5EF4-FFF2-40B4-BE49-F238E27FC236}">
                <a16:creationId xmlns:a16="http://schemas.microsoft.com/office/drawing/2014/main" id="{20FD9DFC-1B88-4B17-A251-EA9C62AC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0" y="18526125"/>
            <a:ext cx="5810250" cy="842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2325">
                <a:solidFill>
                  <a:srgbClr val="212A33"/>
                </a:solidFill>
              </a:defRPr>
            </a:defPPr>
          </a:lstStyle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760 deterministic grid cells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401 no-effect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334 robust improvements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18 excessive-disclosure flags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3 larger-gap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66 multiple CCAR BNE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Diagnostics overlap.</a:t>
            </a:r>
          </a:p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Exhaustive 81-profile search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Evidence: stylized computation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Source: outputs/final/</a:t>
            </a:r>
          </a:p>
        </p:txBody>
      </p:sp>
      <p:sp>
        <p:nvSpPr>
          <p:cNvPr id="30" name="result-caption">
            <a:extLst xmlns:a="http://schemas.openxmlformats.org/drawingml/2006/main"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4574500"/>
            <a:ext cx="12001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/>
            </a:defPPr>
          </a:lstStyle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Expected normalized welfare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Low: 0.000 / 0.639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Medium: 2.193 / 3.089 / 3.139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High: 6.882 / 6.882 / 7.385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(BNE / CCAR / first best).</a:t>
            </a:r>
          </a:p>
        </p:txBody>
      </p:sp>
      <p:sp>
        <p:nvSpPr>
          <p:cNvPr id="31" name="impact-title">
            <a:extLst xmlns:a="http://schemas.openxmlformats.org/drawingml/2006/main"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9525000"/>
            <a:ext cx="102298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Practical impacts and roadmap</a:t>
            </a:r>
          </a:p>
        </p:txBody>
      </p:sp>
      <p:sp>
        <p:nvSpPr>
          <p:cNvPr id="32" name="impact-title-rule">
            <a:extLst xmlns:a="http://schemas.openxmlformats.org/drawingml/2006/main"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0506075"/>
            <a:ext cx="10229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al-world-heading">
            <a:extLst xmlns:a="http://schemas.openxmlformats.org/drawingml/2006/main"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1144250"/>
            <a:ext cx="1022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Impacts diagram with SDG targets</a:t>
            </a:r>
          </a:p>
        </p:txBody>
      </p:sp>
      <p:sp>
        <p:nvSpPr>
          <p:cNvPr id="34" name="real-world">
            <a:extLst xmlns:a="http://schemas.openxmlformats.org/drawingml/2006/main"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1858625"/>
            <a:ext cx="1022985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interdisciplinary-heading">
            <a:extLst xmlns:a="http://schemas.openxmlformats.org/drawingml/2006/main"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6335375"/>
            <a:ext cx="1022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Future Research Roadmap new diagram</a:t>
            </a:r>
          </a:p>
        </p:txBody>
      </p:sp>
      <p:sp>
        <p:nvSpPr>
          <p:cNvPr id="36" name="interdisciplinary">
            <a:extLst xmlns:a="http://schemas.openxmlformats.org/drawingml/2006/main"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17097375"/>
            <a:ext cx="10229850" cy="495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limits-heading">
            <a:extLst xmlns:a="http://schemas.openxmlformats.org/drawingml/2006/main"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22240875"/>
            <a:ext cx="1022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Integration and updated named contributions</a:t>
            </a:r>
          </a:p>
        </p:txBody>
      </p:sp>
      <p:sp>
        <p:nvSpPr>
          <p:cNvPr id="38" name="limits">
            <a:extLst xmlns:a="http://schemas.openxmlformats.org/drawingml/2006/main"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22955250"/>
            <a:ext cx="1022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/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Economics defines incentives and welfare; computation exposes failure regions; those failures narrow the practical claim and motivate comprehension/fairness tests.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Yiqiao Liu: model boundary, code, experiments, interface, paper and poster; 65 baseline tests and fresh artifact verification.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Limits: two operators/types, exogenous congestion, pure strategies, no calibration, report-quality or implementation-cost model.</a:t>
            </a:r>
          </a:p>
        </p:txBody>
      </p:sp>
      <p:sp>
        <p:nvSpPr>
          <p:cNvPr id="39" name="dates">
            <a:extLst xmlns:a="http://schemas.openxmlformats.org/drawingml/2006/main"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0" y="25717500"/>
            <a:ext cx="1022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/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OCT 12 / OCT 14 historical activity records: author confirmation pending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OCT 21  Final submission at 23:00 Shanghai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527250"/>
            <a:ext cx="4013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ck-heading">
            <a:extLst xmlns:a="http://schemas.openxmlformats.org/drawingml/2006/main"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8130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Full acknowledgments</a:t>
            </a:r>
          </a:p>
        </p:txBody>
      </p:sp>
      <p:sp>
        <p:nvSpPr>
          <p:cNvPr id="42" name="ack">
            <a:extLst xmlns:a="http://schemas.openxmlformats.org/drawingml/2006/main"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479750"/>
            <a:ext cx="11049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/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Prof. Luyao Zhang: course design and official templates. Prof. Kenneth S. (Ken) Rogerson: documented course-workshop context; no direct FP10 review claimed. Han Zhang: proposed three-party oversight extension. Xinrong Sun: novelty, domain, congestion-benefit and CCAR-externality challenges (author-supplied summaries; source records pending). Tencent Shanghai office; Shanghai Science and Technology Museum; COMSCI/ECON 206 classroom community. UN SDG assets; Python/NumPy/Matplotlib/nbclient/Gradio/Playwright/ACM template; OpenAI Codex assistance. Yiqiao Liu remains responsible.</a:t>
            </a:r>
          </a:p>
        </p:txBody>
      </p:sp>
      <p:sp>
        <p:nvSpPr>
          <p:cNvPr id="43" name="references-heading">
            <a:extLst xmlns:a="http://schemas.openxmlformats.org/drawingml/2006/main"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7813000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 xmlns:a="http://schemas.openxmlformats.org/drawingml/2006/main"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479750"/>
            <a:ext cx="14192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Los et al. (2020), Transp. Res. E 141, 102011. doi:10.1016/j.tre.2020.102011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Liu &amp; Chow (2022), Transp. Res. B 163, 64–87. doi:10.1016/j.trb.2022.06.013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Maheshwari et al. (2025), ACM JATS 2(4), Art. 19. doi:10.1145/3732290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 SDG targets 9.1 and 11.2: sdgs.un.org/goals</a:t>
            </a:r>
          </a:p>
        </p:txBody>
      </p:sp>
      <p:sp>
        <p:nvSpPr>
          <p:cNvPr id="45" name="access-heading">
            <a:extLst xmlns:a="http://schemas.openxmlformats.org/drawingml/2006/main"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7813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 xmlns:a="http://schemas.openxmlformats.org/drawingml/2006/main"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8384500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Hugging Face: hf.co/spaces/dku-comsci-econ206-2026/ps2-share-or-hide-drone-disclosure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GitHub: github.com/dku-comsci-econ206-Autumn2026/PS2-FP10-ShareOrHide-Yiqiao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Final tested commit: pending final verification commit</a:t>
            </a:r>
          </a:p>
        </p:txBody>
      </p:sp>
      <p:sp>
        <p:nvSpPr>
          <p:cNvPr id="47" name="hf-qr-placeholder">
            <a:extLst xmlns:a="http://schemas.openxmlformats.org/drawingml/2006/main">
              <a:ext uri="{FF2B5EF4-FFF2-40B4-BE49-F238E27FC236}">
                <a16:creationId xmlns:a16="http://schemas.microsoft.com/office/drawing/2014/main" id="{296FE813-8DC2-4185-ADA6-A77390D7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2125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48" name="hf-qr-label">
            <a:extLst xmlns:a="http://schemas.openxmlformats.org/drawingml/2006/main">
              <a:ext uri="{FF2B5EF4-FFF2-40B4-BE49-F238E27FC236}">
                <a16:creationId xmlns:a16="http://schemas.microsoft.com/office/drawing/2014/main" id="{E242BD6C-81B6-4B83-927B-ABE99A7D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98800" y="28508325"/>
            <a:ext cx="742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/>
            </a:defPPr>
          </a:lstStyle>
          <a:p xmlns:a="http://schemas.openxmlformats.org/drawingml/2006/main">
            <a:pPr algn="ctr">
              <a:buNone/>
              <a:defRPr sz="180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63890B80-6191-47DE-888B-3D958CC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8950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50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ADAD9B08-81E1-4FA5-99E7-6DC63E0C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8000" y="28508325"/>
            <a:ext cx="85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/>
            </a:defPPr>
          </a:lstStyle>
          <a:p xmlns:a="http://schemas.openxmlformats.org/drawingml/2006/main">
            <a:pPr algn="ctr">
              <a:buNone/>
              <a:defRPr sz="17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format-note">
            <a:extLst xmlns:a="http://schemas.openxmlformats.org/drawingml/2006/main"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00750"/>
            <a:ext cx="2857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A0 landscape 1189 × 841 mm. Submit PPTX + PDF. Commit poster PDF/preview to GitHub and embed in ROOT README.md.</a:t>
            </a:r>
          </a:p>
        </p:txBody>
      </p:sp>
      <p:pic>
        <p:nvPic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DAD0B9-87EB-4561-9D4D-41AA9BF84C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aeb8bac70a4159"/>
          <a:stretch xmlns:a="http://schemas.openxmlformats.org/drawingml/2006/main"/>
        </p:blipFill>
        <p:spPr>
          <a:xfrm xmlns:a="http://schemas.openxmlformats.org/drawingml/2006/main">
            <a:off x="12525375" y="11239996"/>
            <a:ext cx="17811750" cy="5380633"/>
          </a:xfrm>
          <a:prstGeom xmlns:a="http://schemas.openxmlformats.org/drawingml/2006/main" prst="rect">
            <a:avLst/>
          </a:prstGeom>
        </p:spPr>
      </p:pic>
      <p:pic>
        <p:nvPic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3D8EC84-1B02-4035-A964-8A546E2506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accfef9664c80"/>
          <a:stretch xmlns:a="http://schemas.openxmlformats.org/drawingml/2006/main"/>
        </p:blipFill>
        <p:spPr>
          <a:xfrm xmlns:a="http://schemas.openxmlformats.org/drawingml/2006/main">
            <a:off x="12697290" y="17859375"/>
            <a:ext cx="11371921" cy="6286500"/>
          </a:xfrm>
          <a:prstGeom xmlns:a="http://schemas.openxmlformats.org/drawingml/2006/main" prst="rect">
            <a:avLst/>
          </a:prstGeom>
        </p:spPr>
      </p:pic>
      <p:pic>
        <p:nvPic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F30538A-26AC-4573-9A40-9034B70FA8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5da65304345d8"/>
          <a:stretch xmlns:a="http://schemas.openxmlformats.org/drawingml/2006/main"/>
        </p:blipFill>
        <p:spPr>
          <a:xfrm xmlns:a="http://schemas.openxmlformats.org/drawingml/2006/main">
            <a:off x="32546925" y="11858625"/>
            <a:ext cx="7620000" cy="4286250"/>
          </a:xfrm>
          <a:prstGeom xmlns:a="http://schemas.openxmlformats.org/drawingml/2006/main" prst="rect">
            <a:avLst/>
          </a:prstGeom>
        </p:spPr>
      </p:pic>
      <p:pic>
        <p:nvPic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1B81611-AAB4-47C6-B493-6DEEE75AB5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2c1f210f74f56"/>
          <a:stretch xmlns:a="http://schemas.openxmlformats.org/drawingml/2006/main"/>
        </p:blipFill>
        <p:spPr>
          <a:xfrm xmlns:a="http://schemas.openxmlformats.org/drawingml/2006/main">
            <a:off x="31954258" y="17097375"/>
            <a:ext cx="8805333" cy="4953000"/>
          </a:xfrm>
          <a:prstGeom xmlns:a="http://schemas.openxmlformats.org/drawingml/2006/main" prst="rect">
            <a:avLst/>
          </a:prstGeom>
        </p:spPr>
      </p:pic>
      <p:pic>
        <p:nvPic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34DC889-BF67-4239-A55C-CBF5C9B126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57bb09d644c76"/>
          <a:stretch xmlns:a="http://schemas.openxmlformats.org/drawingml/2006/main"/>
        </p:blipFill>
        <p:spPr>
          <a:xfrm xmlns:a="http://schemas.openxmlformats.org/drawingml/2006/main">
            <a:off x="39128700" y="28251150"/>
            <a:ext cx="1095375" cy="1095375"/>
          </a:xfrm>
          <a:prstGeom xmlns:a="http://schemas.openxmlformats.org/drawingml/2006/main" prst="rect">
            <a:avLst/>
          </a:prstGeom>
        </p:spPr>
      </p:pic>
      <p:pic>
        <p:nvPic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F279C91-369B-4358-96DD-4C071ABB96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d55b1a92643ee"/>
          <a:stretch xmlns:a="http://schemas.openxmlformats.org/drawingml/2006/main"/>
        </p:blipFill>
        <p:spPr>
          <a:xfrm xmlns:a="http://schemas.openxmlformats.org/drawingml/2006/main">
            <a:off x="40338375" y="28251150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E25EAE1-413D-4B80-8F50-0AD4BF0C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716250"/>
            <a:ext cx="1000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PRIVATE TYPE   Low or High confidentiality cost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59A94B1-6879-409B-98B1-CE5A84B3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478250"/>
            <a:ext cx="1000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ACTION   Minimum / Partial / Full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54B111F-844F-4B84-A02F-384BE061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240250"/>
            <a:ext cx="1000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BNE   Best response to rival's type strategy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ED90E2D-3B96-46A6-B764-3905C104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002250"/>
            <a:ext cx="1000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9050">
            <a:solidFill>
              <a:srgbClr val="14877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CCAR   Minimum access factor αM at Medium/High</a:t>
            </a:r>
          </a:p>
        </p:txBody>
      </p:sp>
    </p:spTree>
    <p:extLst>
      <p:ext uri="{BB962C8B-B14F-4D97-AF65-F5344CB8AC3E}">
        <p14:creationId xmlns:p14="http://schemas.microsoft.com/office/powerpoint/2010/main" val="81398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2026-10-15T07:38:10.0090000Z</dcterms:created>
  <dcterms:modified xsi:type="dcterms:W3CDTF">2026-10-15T07:38:10.0090000Z</dcterms:modified>
</coreProperties>
</file>