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dc10ca46848f9" /><Relationship Type="http://schemas.openxmlformats.org/officeDocument/2006/relationships/extended-properties" Target="/docProps/app.xml" Id="Rf396e810dd3b42a9" /><Relationship Type="http://schemas.openxmlformats.org/officeDocument/2006/relationships/officeDocument" Target="/ppt/presentation.xml" Id="R50bb6ff0c61e40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f2988472174b43"/>
  </p:sldMasterIdLst>
  <p:notesMasterIdLst>
    <p:notesMasterId xmlns:r="http://schemas.openxmlformats.org/officeDocument/2006/relationships" r:id="Ref9ddb913d0a43f3"/>
  </p:notesMasterIdLst>
  <p:sldIdLst>
    <p:sldId xmlns:r="http://schemas.openxmlformats.org/officeDocument/2006/relationships" id="256" r:id="R333991ea841f42cc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bb2d7703c4c2e" /><Relationship Type="http://schemas.openxmlformats.org/officeDocument/2006/relationships/slideMaster" Target="/ppt/slideMasters/slideMaster1.xml" Id="R8ff2988472174b43" /><Relationship Type="http://schemas.openxmlformats.org/officeDocument/2006/relationships/notesMaster" Target="/ppt/notesMasters/notesMaster1.xml" Id="Ref9ddb913d0a43f3" /><Relationship Type="http://schemas.openxmlformats.org/officeDocument/2006/relationships/presProps" Target="/ppt/presProps.xml" Id="R90c2b6e156e14563" /><Relationship Type="http://schemas.openxmlformats.org/officeDocument/2006/relationships/tableStyles" Target="/ppt/tableStyles.xml" Id="R19d0d607ce5e4306" /><Relationship Type="http://schemas.openxmlformats.org/officeDocument/2006/relationships/slide" Target="/ppt/slides/slide1.xml" Id="R333991ea841f42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325fe09df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56648b5ec426c" /><Relationship Type="http://schemas.openxmlformats.org/officeDocument/2006/relationships/notesMaster" Target="/ppt/notesMasters/notesMaster1.xml" Id="Rc2af00002da3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Los et al. (2020), DOI 10.1016/j.tre.2020.102011; Liu and Chow (2022), DOI 10.1016/j.trb.2022.06.013; Maheshwari et al. (2025), DOI 10.1145/3732290; official UN SDG Goal 9 and Goal 11 pages and communications assets; FP10 outputs/final/release_manifest.json. Evidence is a stylized computational benchmark, not real-world drone traffic evidence. Official course A0 template supplied by COMSCI/ECON 206.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03425167a44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443337b7664085" /><Relationship Type="http://schemas.openxmlformats.org/officeDocument/2006/relationships/slideLayout" Target="/ppt/slideLayouts/slideLayout1.xml" Id="R91cecd2cadb544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ecd2cadb544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9804000584496" /><Relationship Type="http://schemas.openxmlformats.org/officeDocument/2006/relationships/image" Target="/ppt/media/image.png" Id="Rd4fb842653ad4282" /><Relationship Type="http://schemas.openxmlformats.org/officeDocument/2006/relationships/image" Target="/ppt/media/image2.png" Id="R042cd1f2863a4ca6" /><Relationship Type="http://schemas.openxmlformats.org/officeDocument/2006/relationships/image" Target="/ppt/media/image3.png" Id="R64fcfae122be4946" /><Relationship Type="http://schemas.openxmlformats.org/officeDocument/2006/relationships/image" Target="/ppt/media/image4.png" Id="R448728bf934c4ccc" /><Relationship Type="http://schemas.openxmlformats.org/officeDocument/2006/relationships/image" Target="/ppt/media/image5.png" Id="R94db71036e994401" /><Relationship Type="http://schemas.openxmlformats.org/officeDocument/2006/relationships/image" Target="/ppt/media/image6.png" Id="Rd010f2cc44554df3" /><Relationship Type="http://schemas.openxmlformats.org/officeDocument/2006/relationships/image" Target="/ppt/media/image7.png" Id="Rc9b0a990475d42dd" /><Relationship Type="http://schemas.openxmlformats.org/officeDocument/2006/relationships/notesSlide" Target="/ppt/notesSlides/notesSlide1.xml" Id="Rd14fed7ed46d4a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FINAL RESEARCH PROJECT   |   AUTUMN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/>
            </a:defPPr>
          </a:lstStyle>
          <a:p xmlns:a="http://schemas.openxmlformats.org/drawingml/2006/main">
            <a:pPr algn="r">
              <a:buNone/>
              <a:defRPr sz="195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FINAL PROJECT v2026.10.15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800"/>
            </a:defPPr>
          </a:lstStyle>
          <a:p xmlns:a="http://schemas.openxmlformats.org/drawingml/2006/main">
            <a:pPr algn="l">
              <a:buNone/>
              <a:defRPr sz="78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78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Share or Hide? Strategic Disclosure</a:t>
            </a:r>
          </a:p>
          <a:p xmlns:a="http://schemas.openxmlformats.org/drawingml/2006/main">
            <a:pPr algn="l">
              <a:buNone/>
              <a:defRPr sz="78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78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 Congested Low-Altitude Drone Traffic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/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Yiqiao Liu  |  Team FP10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563F34-98C8-463F-AE01-8151784D4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b842653ad4282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/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Medium-congestion welfare gap falls from 0.946 to 0.050 in the benchmark CCAR example, but the rule also has no-effect and adverse parameter regions.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and foundations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028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/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When do private confidentiality costs and public congestion make voluntary M/P/F disclosure inefficient, and when does CCAR improve welfare?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Closest work: Los et al. (2020); Liu &amp; Chow (2022); Maheshwari et al. (2025).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Contribution: a reproducible stylized comparison with failure regions, not a theorem or aviation field result.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9542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and Intellectual Merits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68625"/>
            <a:ext cx="10287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/>
            </a:defPPr>
          </a:lstStyle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859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621500"/>
            <a:ext cx="10287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/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 predicts complete type-contingent pure BNE.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Social choice compares operator utility with total welfare and an infeasible type-observing reference.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Mechanism design tests a congestion-contingent rule for enhanced, non-safety access.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5742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0287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One residual commercial priority slot. FCFS: first eligible request, zero payment. Second-price auction: highest bid wins, pays second bid.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Seed-206 simulation: mean efficiency 0.622 vs 1.000. Emergency and public-safety missions remain outside payment-based access.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525000"/>
            <a:ext cx="1809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Model and verified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0506075"/>
            <a:ext cx="1809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1144250"/>
            <a:ext cx="18097500" cy="661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3049250"/>
            <a:ext cx="1685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4097000"/>
            <a:ext cx="16287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7907000"/>
            <a:ext cx="1809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Figure 1. Closest foundations lead to an endogenous-disclosure Bayesian model, verified BNE and welfare, proposed CCAR, computation, and explicit limitations.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8669000"/>
            <a:ext cx="120015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0" y="18669000"/>
            <a:ext cx="581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3000"/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Robustness and verification</a:t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0" y="19573875"/>
            <a:ext cx="5810250" cy="738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212A33"/>
                </a:solidFill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760 deterministic grid cells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401 no-effect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334 robust improvements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18 excessive-disclosure flags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3 larger-gap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66 multiple CCAR BNE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Diagnostics overlap.</a:t>
            </a:r>
          </a:p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Exhaustive 81-profile search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Evidence: stylized computation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Source: outputs/final/</a:t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050750"/>
            <a:ext cx="1200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Figure 2. Expected normalized welfare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Low: 0.000 / 0.639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Medium: 2.193 / 3.089 / 3.139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High: 6.882 / 6.882 / 7.385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(BNE / CCAR / first best).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9525000"/>
            <a:ext cx="1022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Practical impacts and roadmap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0506075"/>
            <a:ext cx="10229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1144250"/>
            <a:ext cx="1022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Impacts diagram with SDG targets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1858625"/>
            <a:ext cx="102298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6335375"/>
            <a:ext cx="1022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Future Research Roadmap new diagram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17097375"/>
            <a:ext cx="1022985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22240875"/>
            <a:ext cx="1022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Integration and updated named contributions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22955250"/>
            <a:ext cx="1022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Economics defines incentives and welfare; computation exposes failure regions; those failures narrow the practical claim and motivate comprehension/fairness tests.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Yiqiao Liu: model boundary, code, experiments, interface, paper and poster; 70 automated tests and fresh artifact verification.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Limits: two operators/types, exogenous congestion, pure strategies, no calibration, report-quality or implementation-cost model.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0" y="25717500"/>
            <a:ext cx="1022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/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SEP 28  Superseded-topic review recovered; no current-model validation claimed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OCT 12 / OCT 14  Primary activity records not recovered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Full 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/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Prof. Luyao Zhang: course design and official templates. Prof. Kenneth S. (Ken) Rogerson: course-workshop context only; no direct FP10 review. Feiyu Li: 28 Sept. review of a superseded topic; no current-model validation. Han Zhang: proposed three-party oversight. Xinrong Sun: author-supplied novelty, domain, congestion-benefit and CCAR-externality challenges; source records pending. Tencent Shanghai office; Shanghai Science and Technology Museum; COMSCI/ECON 206 classroom community. UN SDG assets; Python/NumPy/Matplotlib/nbclient/Gradio/Playwright/ACM; OpenAI Codex. Yiqiao Liu remains responsible.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479750"/>
            <a:ext cx="1419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Los et al. (2020), Transp. Res. E 141, 102011. doi:10.1016/j.tre.2020.102011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Liu &amp; Chow (2022), Transp. Res. B 163, 64–87. doi:10.1016/j.trb.2022.06.013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Maheshwari et al. (2025), ACM JATS 2(4), Art. 19. doi:10.1145/3732290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UN SDG targets 9.1 and 11.2: sdgs.un.org/goals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8384500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Hugging Face: hf.co/spaces/dku-comsci-econ206-2026/ps2-share-or-hide-drone-disclosure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GitHub: github.com/dku-comsci-econ206-Autumn2026/PS2-FP10-ShareOrHide-Yiqiao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Validated source commit: 96a1c3a5276267ff6a039d9a11a3d9c4b2cfce38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800" y="28508325"/>
            <a:ext cx="74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000" y="285083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2857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A0 landscape 1189 × 841 mm. Submit PPTX + PDF. Commit poster PDF/preview to GitHub and embed in ROOT README.md.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AAF5E9-0E3C-47B7-82DE-3D1141F40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cd1f2863a4ca6"/>
          <a:stretch xmlns:a="http://schemas.openxmlformats.org/drawingml/2006/main"/>
        </p:blipFill>
        <p:spPr>
          <a:xfrm xmlns:a="http://schemas.openxmlformats.org/drawingml/2006/main">
            <a:off x="12532461" y="11239500"/>
            <a:ext cx="17797578" cy="6429375"/>
          </a:xfrm>
          <a:prstGeom xmlns:a="http://schemas.openxmlformats.org/drawingml/2006/main" prst="rect">
            <a:avLst/>
          </a:prstGeom>
        </p:spPr>
      </p:pic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94E423-1906-4E9C-897C-F39FE2EF20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cfae122be4946"/>
          <a:stretch xmlns:a="http://schemas.openxmlformats.org/drawingml/2006/main"/>
        </p:blipFill>
        <p:spPr>
          <a:xfrm xmlns:a="http://schemas.openxmlformats.org/drawingml/2006/main">
            <a:off x="13214195" y="18907125"/>
            <a:ext cx="10338110" cy="5715000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65A4CA-597A-4969-A842-A78CF957DF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728bf934c4ccc"/>
          <a:stretch xmlns:a="http://schemas.openxmlformats.org/drawingml/2006/main"/>
        </p:blipFill>
        <p:spPr>
          <a:xfrm xmlns:a="http://schemas.openxmlformats.org/drawingml/2006/main">
            <a:off x="32546925" y="11858625"/>
            <a:ext cx="7620000" cy="4286250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FBF4D4-956A-4C0E-87BC-634C72A71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b71036e994401"/>
          <a:stretch xmlns:a="http://schemas.openxmlformats.org/drawingml/2006/main"/>
        </p:blipFill>
        <p:spPr>
          <a:xfrm xmlns:a="http://schemas.openxmlformats.org/drawingml/2006/main">
            <a:off x="31954258" y="17097375"/>
            <a:ext cx="8805333" cy="4953000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942EE3-D67F-4EC8-A3FB-1038B0362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0f2cc44554df3"/>
          <a:stretch xmlns:a="http://schemas.openxmlformats.org/drawingml/2006/main"/>
        </p:blipFill>
        <p:spPr>
          <a:xfrm xmlns:a="http://schemas.openxmlformats.org/drawingml/2006/main">
            <a:off x="39128700" y="28251150"/>
            <a:ext cx="1095375" cy="1095375"/>
          </a:xfrm>
          <a:prstGeom xmlns:a="http://schemas.openxmlformats.org/drawingml/2006/main" prst="rect">
            <a:avLst/>
          </a:prstGeom>
        </p:spPr>
      </p:pic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C81A74-3DB1-4463-A34E-287AFB4428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a990475d42dd"/>
          <a:stretch xmlns:a="http://schemas.openxmlformats.org/drawingml/2006/main"/>
        </p:blipFill>
        <p:spPr>
          <a:xfrm xmlns:a="http://schemas.openxmlformats.org/drawingml/2006/main">
            <a:off x="40338375" y="28251150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9A370E-F635-47EE-87CF-A9D3C43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9050">
            <a:solidFill>
              <a:srgbClr val="315E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PRIVATE TYPE   Low or High confidentiality cost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49D12B-28CE-47F6-82B4-9435BD6A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478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9050">
            <a:solidFill>
              <a:srgbClr val="315E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ACTION   Minimum / Partial / Full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FC338D-7E65-465E-88D7-DDC89DF5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240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9050">
            <a:solidFill>
              <a:srgbClr val="315E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BNE   Best response to rival's type strategy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776E84-2AB5-4C89-8D8B-D592192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02250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9050">
            <a:solidFill>
              <a:srgbClr val="1487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8324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</a:defRPr>
            </a:pPr>
            <a:r>
              <a:rPr sz="2100" b="0">
                <a:solidFill>
                  <a:srgbClr val="18324A"/>
                </a:solidFill>
              </a:rPr>
              <a:t>CCAR   Minimum access factor αM at Medium/High</a:t>
            </a:r>
          </a:p>
        </p:txBody>
      </p:sp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2026-10-15T13:17:46.2560000Z</dcterms:created>
  <dcterms:modified xsi:type="dcterms:W3CDTF">2026-10-15T13:17:46.2560000Z</dcterms:modified>
</coreProperties>
</file>