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5e5eb9be4e49de" /><Relationship Type="http://schemas.openxmlformats.org/officeDocument/2006/relationships/extended-properties" Target="/docProps/app.xml" Id="R913efd8fde7c4fa8" /><Relationship Type="http://schemas.openxmlformats.org/officeDocument/2006/relationships/officeDocument" Target="/ppt/presentation.xml" Id="Rf10e039e14b348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fb34d72ad9423b"/>
  </p:sldMasterIdLst>
  <p:notesMasterIdLst>
    <p:notesMasterId xmlns:r="http://schemas.openxmlformats.org/officeDocument/2006/relationships" r:id="Ra62d8a94d543418b"/>
  </p:notesMasterIdLst>
  <p:sldIdLst>
    <p:sldId xmlns:r="http://schemas.openxmlformats.org/officeDocument/2006/relationships" id="256" r:id="Rfa185b27eafc4edd"/>
  </p:sldIdLst>
  <p:sldSz cx="4280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c0b217d7d14089" /><Relationship Type="http://schemas.openxmlformats.org/officeDocument/2006/relationships/slideMaster" Target="/ppt/slideMasters/slideMaster1.xml" Id="Rb7fb34d72ad9423b" /><Relationship Type="http://schemas.openxmlformats.org/officeDocument/2006/relationships/notesMaster" Target="/ppt/notesMasters/notesMaster1.xml" Id="Ra62d8a94d543418b" /><Relationship Type="http://schemas.openxmlformats.org/officeDocument/2006/relationships/presProps" Target="/ppt/presProps.xml" Id="R10c13d7d20044916" /><Relationship Type="http://schemas.openxmlformats.org/officeDocument/2006/relationships/tableStyles" Target="/ppt/tableStyles.xml" Id="Rc99a4d4a24114c66" /><Relationship Type="http://schemas.openxmlformats.org/officeDocument/2006/relationships/slide" Target="/ppt/slides/slide1.xml" Id="Rfa185b27eafc4e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3cdb46647d46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b3d27d62904d9c" /><Relationship Type="http://schemas.openxmlformats.org/officeDocument/2006/relationships/notesMaster" Target="/ppt/notesMasters/notesMaster1.xml" Id="R4db1e8dcf8b449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Poster sources: outputs/tables/baseline_bne_summary.csv; baseline_welfare_gap.csv; ccar_bne_summary.csv; ccar_failure_regions.csv; auction_benchmark_example.csv.</a:t>
            </a:r>
          </a:p>
          <a:p xmlns:a="http://schemas.openxmlformats.org/drawingml/2006/main">
            <a:r>
              <a:t>Reproducibility checkpoint: ffa4836208a3f647181771646c5639286c0726e6.</a:t>
            </a:r>
          </a:p>
          <a:p xmlns:a="http://schemas.openxmlformats.org/drawingml/2006/main">
            <a:r>
              <a:t>Public artifacts: GitHub repository, Hugging Face Space, Colab 01 and Colab 02 as printed on the poster.</a:t>
            </a:r>
          </a:p>
          <a:p xmlns:a="http://schemas.openxmlformats.org/drawingml/2006/main">
            <a:r>
              <a:t>All inputs are stylized; no empirical operational or representative behavioral dataset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10a030fc147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545a638b9c488a" /><Relationship Type="http://schemas.openxmlformats.org/officeDocument/2006/relationships/slideLayout" Target="/ppt/slideLayouts/slideLayout1.xml" Id="R45da44fbf25d40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da44fbf25d40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283dc782f4bf3" /><Relationship Type="http://schemas.openxmlformats.org/officeDocument/2006/relationships/image" Target="/ppt/media/image.png" Id="R7dd1910c1b914462" /><Relationship Type="http://schemas.openxmlformats.org/officeDocument/2006/relationships/hyperlink" Target="https://github.com/dku-comsci-econ206-Autumn2026/PS2-FP10-ShareOrHide-Yiqiao" TargetMode="External" Id="R2582c077ee3b4362" /><Relationship Type="http://schemas.openxmlformats.org/officeDocument/2006/relationships/hyperlink" Target="https://huggingface.co/spaces/dku-comsci-econ206-2026/ps2-share-or-hide-drone-disclosure" TargetMode="External" Id="Rab90a29058374da7" /><Relationship Type="http://schemas.openxmlformats.org/officeDocument/2006/relationships/hyperlink" Target="https://colab.research.google.com/github/dku-comsci-econ206-Autumn2026/PS2-FP10-ShareOrHide-Yiqiao/blob/main/notebooks/01_strategic_disclosure_game.ipynb" TargetMode="External" Id="R9a35b6b8621e4133" /><Relationship Type="http://schemas.openxmlformats.org/officeDocument/2006/relationships/hyperlink" Target="https://colab.research.google.com/github/dku-comsci-econ206-Autumn2026/PS2-FP10-ShareOrHide-Yiqiao/blob/main/notebooks/02_priority_slot_allocation.ipynb" TargetMode="External" Id="Rf231c24765734c92" /><Relationship Type="http://schemas.openxmlformats.org/officeDocument/2006/relationships/image" Target="/ppt/media/image2.png" Id="Re80248d219c34502" /><Relationship Type="http://schemas.openxmlformats.org/officeDocument/2006/relationships/image" Target="/ppt/media/image3.png" Id="Rbf052f8f39884e3f" /><Relationship Type="http://schemas.openxmlformats.org/officeDocument/2006/relationships/notesSlide" Target="/ppt/notesSlides/notesSlide1.xml" Id="R31580a7f8a664f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top-brand-rule">
            <a:extLst xmlns:a="http://schemas.openxmlformats.org/drawingml/2006/main"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ine">
            <a:extLst xmlns:a="http://schemas.openxmlformats.org/drawingml/2006/main"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81050"/>
            <a:ext cx="2886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PS2 RESEARCH SYMPOSIUM   |   FALL 2026</a:t>
            </a:r>
          </a:p>
        </p:txBody>
      </p:sp>
      <p:sp>
        <p:nvSpPr>
          <p:cNvPr id="3" name="version">
            <a:extLst xmlns:a="http://schemas.openxmlformats.org/drawingml/2006/main"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0" y="6153150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99666"/>
          </a:bodyPr>
          <a:lstStyle xmlns:a="http://schemas.openxmlformats.org/drawingml/2006/main"/>
          <a:p xmlns:a="http://schemas.openxmlformats.org/drawingml/2006/main">
            <a:pPr algn="r">
              <a:lnSpc>
                <a:spcPct val="96000"/>
              </a:lnSpc>
              <a:buNone/>
              <a:defRPr sz="2025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POSTER  ·  VALIDATED BASELINE</a:t>
            </a:r>
          </a:p>
        </p:txBody>
      </p:sp>
      <p:sp>
        <p:nvSpPr>
          <p:cNvPr id="4" name="project-title">
            <a:extLst xmlns:a="http://schemas.openxmlformats.org/drawingml/2006/main"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38300"/>
            <a:ext cx="291465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72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2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Share or Hide?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72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2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Disclosure in Congested Low-Altitude Drone Traffic</a:t>
            </a:r>
          </a:p>
        </p:txBody>
      </p:sp>
      <p:sp>
        <p:nvSpPr>
          <p:cNvPr id="5" name="authors">
            <a:extLst xmlns:a="http://schemas.openxmlformats.org/drawingml/2006/main"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2857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39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Yiqiao Liu   ·   FP10</a:t>
            </a:r>
          </a:p>
        </p:txBody>
      </p:sp>
      <p:sp>
        <p:nvSpPr>
          <p:cNvPr id="6" name="course-instructor">
            <a:extLst xmlns:a="http://schemas.openxmlformats.org/drawingml/2006/main"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29225"/>
            <a:ext cx="2857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8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2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d1910c1b914462"/>
          <a:stretch xmlns:a="http://schemas.openxmlformats.org/drawingml/2006/main"/>
        </p:blipFill>
        <p:spPr>
          <a:xfrm xmlns:a="http://schemas.openxmlformats.org/drawingml/2006/main">
            <a:off x="32575500" y="2190750"/>
            <a:ext cx="8096250" cy="2595818"/>
          </a:xfrm>
          <a:prstGeom xmlns:a="http://schemas.openxmlformats.org/drawingml/2006/main" prst="rect">
            <a:avLst/>
          </a:prstGeom>
        </p:spPr>
      </p:pic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42804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2390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858000"/>
            <a:ext cx="3333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“The largest benchmark coordination failure appears at intermediate congestion, where additional disclosure is socially valuable but remains privately unattractive to confidentiality-sensitive operators.”</a:t>
            </a:r>
          </a:p>
        </p:txBody>
      </p:sp>
      <p:sp>
        <p:nvSpPr>
          <p:cNvPr id="11" name="question-model-title">
            <a:extLst xmlns:a="http://schemas.openxmlformats.org/drawingml/2006/main"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 xmlns:a="http://schemas.openxmlformats.org/drawingml/2006/main"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search-question-heading">
            <a:extLst xmlns:a="http://schemas.openxmlformats.org/drawingml/2006/main"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830050"/>
            <a:ext cx="110490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76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3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PRIMARY  When operators privately differ in confidentiality cost, how does congestion affect strategic disclosure, and when does BNE fall below the full-information first best?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3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INTEGRATED  How should low-altitude traffic systems structure non-safety sharing when confidentiality remains private but coordination is collective?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3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SETTING  Capacity-constrained urban drone-delivery corridors. Stakeholders: operators, traffic authority, customers, nearby/public stakeholders, emergency users.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3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VERIFIED GAP  Existing AAM work studies protocols, privacy mechanisms, and auctions. Here disclosure granularity is an endogenous choice under private commercial cost and congestion-dependent information value.</a:t>
            </a:r>
          </a:p>
        </p:txBody>
      </p:sp>
      <p:sp>
        <p:nvSpPr>
          <p:cNvPr id="15" name="model-heading">
            <a:extLst xmlns:a="http://schemas.openxmlformats.org/drawingml/2006/main"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4495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 &amp; foundations</a:t>
            </a:r>
          </a:p>
        </p:txBody>
      </p:sp>
      <p:sp>
        <p:nvSpPr>
          <p:cNvPr id="16" name="model">
            <a:extLst xmlns:a="http://schemas.openxmlformats.org/drawingml/2006/main"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097250"/>
            <a:ext cx="11049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1000"/>
              </a:lnSpc>
              <a:buNone/>
              <a:defRPr sz="22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STATIC BAYESIAN GAME  ·  INCOMPLETE INFORMATION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2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Players A, B. Private cᵢ ∈ {1, 1.6}; Pr(L)=Pr(H)=0.5. Public d: Low .3 | Medium .6 | High 1.0.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2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Actions: Minimum = mandatory/basic safety only; Partial = next sector + coarse ETA + traffic volume; Full = richer route/timing/trajectory.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2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Safety floor: Minimum never withholds required or safety-critical information.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2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uᵢ = dB[1−exp(−λ(xᵢ+xⱼ))] − cᵢk(aᵢ)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2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B=7.5; λ=.5; x=(0,1,2); k=(0,1,2.5). Solution: pure-strategy Bayesian Nash equilibrium.</a:t>
            </a:r>
          </a:p>
        </p:txBody>
      </p:sp>
      <p:sp>
        <p:nvSpPr>
          <p:cNvPr id="17" name="lenses-heading">
            <a:extLst xmlns:a="http://schemas.openxmlformats.org/drawingml/2006/main"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0691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complementary lenses</a:t>
            </a:r>
          </a:p>
        </p:txBody>
      </p:sp>
      <p:sp>
        <p:nvSpPr>
          <p:cNvPr id="18" name="lenses">
            <a:extLst xmlns:a="http://schemas.openxmlformats.org/drawingml/2006/main"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688300"/>
            <a:ext cx="11049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992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3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GAME THEORY  Private types + M/P/F disclosure → Bayesian equilibrium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3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SOCIAL CHOICE  BNE welfare vs full-information first best → efficiency and burden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3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MECHANISM DESIGN  CCAR access rule + priority allocation → incentive robustness</a:t>
            </a:r>
          </a:p>
        </p:txBody>
      </p:sp>
      <p:sp>
        <p:nvSpPr>
          <p:cNvPr id="19" name="auction-heading">
            <a:extLst xmlns:a="http://schemas.openxmlformats.org/drawingml/2006/main"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24100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22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Downstream Week 5 allocation application</a:t>
            </a:r>
          </a:p>
        </p:txBody>
      </p:sp>
      <p:sp>
        <p:nvSpPr>
          <p:cNvPr id="20" name="auction">
            <a:extLst xmlns:a="http://schemas.openxmlformats.org/drawingml/2006/main"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926800"/>
            <a:ext cx="11049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1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Resource: one commercial priority slot, K=1; emergency/public-safety missions remain outside the auction.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Values A/B/C/D = 8/5/3/2; FCFS arrival B → C → A → D.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FCFS  B wins | value 5 | efficiency 62.5%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SECOND PRICE  A wins | payment 5 | utility 3 | efficiency 100%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Boundary: downstream scarcity allocation, not the disclosure mechanism.</a:t>
            </a:r>
          </a:p>
        </p:txBody>
      </p:sp>
      <p:sp>
        <p:nvSpPr>
          <p:cNvPr id="21" name="design-evidence-title">
            <a:extLst xmlns:a="http://schemas.openxmlformats.org/drawingml/2006/main"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9525000"/>
            <a:ext cx="16134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 xmlns:a="http://schemas.openxmlformats.org/drawingml/2006/main"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0506075"/>
            <a:ext cx="1613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search-design-area">
            <a:extLst xmlns:a="http://schemas.openxmlformats.org/drawingml/2006/main"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1144250"/>
            <a:ext cx="161340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19050">
            <a:solidFill>
              <a:srgbClr val="C7D2DF"/>
            </a:solidFill>
            <a:prstDash val="solid"/>
          </a:ln>
        </p:spPr>
      </p:sp>
      <p:sp>
        <p:nvSpPr>
          <p:cNvPr id="24" name="research-design-label">
            <a:extLst xmlns:a="http://schemas.openxmlformats.org/drawingml/2006/main">
              <a:ext uri="{FF2B5EF4-FFF2-40B4-BE49-F238E27FC236}">
                <a16:creationId xmlns:a16="http://schemas.microsoft.com/office/drawing/2014/main" id="{8126654C-9B1A-4166-BD33-50CD41E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12917805"/>
            <a:ext cx="1489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5" name="research-design-prompt">
            <a:extLst xmlns:a="http://schemas.openxmlformats.org/drawingml/2006/main">
              <a:ext uri="{FF2B5EF4-FFF2-40B4-BE49-F238E27FC236}">
                <a16:creationId xmlns:a16="http://schemas.microsoft.com/office/drawing/2014/main" id="{FB9F3C40-7F71-42C4-93FE-A2A20CF3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14013180"/>
            <a:ext cx="14324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design-caption">
            <a:extLst xmlns:a="http://schemas.openxmlformats.org/drawingml/2006/main"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6021050"/>
            <a:ext cx="16135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0">
                <a:solidFill>
                  <a:srgbClr val="536274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536274"/>
                </a:solidFill>
                <a:latin typeface="Calibri"/>
                <a:ea typeface="Calibri"/>
                <a:cs typeface="Calibri"/>
              </a:rPr>
              <a:t>Figure 1. Economic model → verified computation → behavioral probe → bounded allocation → revision gate.</a:t>
            </a:r>
          </a:p>
        </p:txBody>
      </p:sp>
      <p:sp>
        <p:nvSpPr>
          <p:cNvPr id="27" name="main-result-area">
            <a:extLst xmlns:a="http://schemas.openxmlformats.org/drawingml/2006/main"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7621250"/>
            <a:ext cx="1613400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19050">
            <a:solidFill>
              <a:srgbClr val="C7D2DF"/>
            </a:solidFill>
            <a:prstDash val="solid"/>
          </a:ln>
        </p:spPr>
      </p:sp>
      <p:sp>
        <p:nvSpPr>
          <p:cNvPr id="28" name="main-result-label">
            <a:extLst xmlns:a="http://schemas.openxmlformats.org/drawingml/2006/main">
              <a:ext uri="{FF2B5EF4-FFF2-40B4-BE49-F238E27FC236}">
                <a16:creationId xmlns:a16="http://schemas.microsoft.com/office/drawing/2014/main" id="{A95FDDB5-DC34-4CBB-B5F4-3B143142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20010120"/>
            <a:ext cx="1489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9" name="main-result-prompt">
            <a:extLst xmlns:a="http://schemas.openxmlformats.org/drawingml/2006/main">
              <a:ext uri="{FF2B5EF4-FFF2-40B4-BE49-F238E27FC236}">
                <a16:creationId xmlns:a16="http://schemas.microsoft.com/office/drawing/2014/main" id="{20FD9DFC-1B88-4B17-A251-EA9C62AC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21105495"/>
            <a:ext cx="14324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0" name="result-caption">
            <a:extLst xmlns:a="http://schemas.openxmlformats.org/drawingml/2006/main"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098250"/>
            <a:ext cx="161353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WHY MEDIUM?  At high congestion, even the high-confidentiality type chooses Partial. At medium congestion, added disclosure is socially valuable but remains privately unattractive.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ROBUSTNESS  760 validated cells: 401 no equilibrium-set effect | 334 welfare improvement | 18 excessive-disclosure diagnostic | 3 larger gap | 66 multiple pure BNE | 0 no pure BNE. Categories overlap; these are not probabilities.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DESIGN MESSAGE  Mechanism performance is parameter-dependent.</a:t>
            </a:r>
          </a:p>
        </p:txBody>
      </p:sp>
      <p:sp>
        <p:nvSpPr>
          <p:cNvPr id="31" name="impact-title">
            <a:extLst xmlns:a="http://schemas.openxmlformats.org/drawingml/2006/main"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 xmlns:a="http://schemas.openxmlformats.org/drawingml/2006/main"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al-world-heading">
            <a:extLst xmlns:a="http://schemas.openxmlformats.org/drawingml/2006/main"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impact: a real-world case</a:t>
            </a:r>
          </a:p>
        </p:txBody>
      </p:sp>
      <p:sp>
        <p:nvSpPr>
          <p:cNvPr id="34" name="real-world">
            <a:extLst xmlns:a="http://schemas.openxmlformats.org/drawingml/2006/main"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850" y="11830050"/>
            <a:ext cx="11049000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775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CASE  Commercial drone-delivery operators sharing capacity-constrained urban low-altitude corridors.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DECISION  How much non-safety flight-intent information to share; how to allocate residual commercial priority scarcity.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POTENTIAL BENEFIT  Better coordination, lower delay, more efficient corridor use.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RISKS  Commercial confidentiality, unequal access, over-disclosure, misspecified incentives.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BEFORE ADOPTION  Pilot calibration and confidentiality values; latency/reliability; safety and distributional review.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1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CORRECTION  Auditable rule, safety-information floor, appeal/review, parameter revision, or suspension.</a:t>
            </a:r>
          </a:p>
        </p:txBody>
      </p:sp>
      <p:sp>
        <p:nvSpPr>
          <p:cNvPr id="35" name="interdisciplinary-heading">
            <a:extLst xmlns:a="http://schemas.openxmlformats.org/drawingml/2006/main"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58115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Interdisciplinary evidence</a:t>
            </a:r>
          </a:p>
        </p:txBody>
      </p:sp>
      <p:sp>
        <p:nvSpPr>
          <p:cNvPr id="36" name="interdisciplinary">
            <a:extLst xmlns:a="http://schemas.openxmlformats.org/drawingml/2006/main"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850" y="16497300"/>
            <a:ext cx="11049000" cy="561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BF7"/>
          </a:solidFill>
          <a:ln xmlns:a="http://schemas.openxmlformats.org/drawingml/2006/main" w="19050">
            <a:solidFill>
              <a:srgbClr val="006633"/>
            </a:solidFill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869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TESTABLE IMPLICATION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0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In an intermediate-congestion pilot with synthetic or calibrated confidentiality types, conditioning only enhanced non-safety coordination access on Partial/Full disclosure should increase Partial disclosure among confidentiality-sensitive operators relative to the baseline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0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QUALIFY / REJECT IF  disclosure becomes excessive; the welfare gap rises; access becomes systematically unequal; or operational/privacy costs dominate.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0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BEHAVIORAL SCIENCE  Hugging Face Decision Lab: Solo Decision, reflection, Peer Play, benchmark reveal, CCAR comparison, auction exercise.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0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Evidence boundary: exploratory classroom decision exercise; not representative evidence about real drone operators.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0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COMPUTER SCIENCE  GitHub + Colab 01 (BNE / welfare / CCAR) + Colab 02 (FCFS / second price).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0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Integration: the model defines the benchmark shown in the artifact; participant reflection identifies where predictions may require behavioral qualification.</a:t>
            </a:r>
          </a:p>
        </p:txBody>
      </p:sp>
      <p:sp>
        <p:nvSpPr>
          <p:cNvPr id="37" name="limits-heading">
            <a:extLst xmlns:a="http://schemas.openxmlformats.org/drawingml/2006/main"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193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Limitations &amp; next test</a:t>
            </a:r>
          </a:p>
        </p:txBody>
      </p:sp>
      <p:sp>
        <p:nvSpPr>
          <p:cNvPr id="38" name="limits">
            <a:extLst xmlns:a="http://schemas.openxmlformats.org/drawingml/2006/main"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850" y="22879050"/>
            <a:ext cx="110490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980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9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LIMITS  Two operators and types; independent private types; pure strategies; stylized parameters; no calibration; first best may be nonimplementable; CCAR cost omitted; IPV auction; interdependent mission values; exploratory demo.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9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NEXT TEST  Compare baseline and CCAR under trusted-partner and competitive framing; classify deviations by privacy salience, reciprocity/fairness, or strategic misunderstanding.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950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OPEN DESIGN QUESTION</a:t>
            </a:r>
            <a:r>
              <a:rPr sz="1950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  At what congestion and confidentiality conditions should enhanced access become conditional without creating excessive disclosure or unequal access?</a:t>
            </a:r>
          </a:p>
        </p:txBody>
      </p:sp>
      <p:sp>
        <p:nvSpPr>
          <p:cNvPr id="39" name="dates">
            <a:extLst xmlns:a="http://schemas.openxmlformats.org/drawingml/2006/main"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850" y="258127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PEER REVIEW: PARTIAL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2025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Superseded-version review only; no final-topic review.
</a:t>
            </a:r>
            <a:r>
              <a:rPr sz="202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Validated computational checkpoint:</a:t>
            </a:r>
            <a:r>
              <a:rPr sz="202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 ffa4836208a3f647181771646c5639286c0726e6</a:t>
            </a:r>
          </a:p>
        </p:txBody>
      </p:sp>
      <p:sp>
        <p:nvSpPr>
          <p:cNvPr id="4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527250"/>
            <a:ext cx="4013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ack-heading">
            <a:extLst xmlns:a="http://schemas.openxmlformats.org/drawingml/2006/main"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8130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 xmlns:a="http://schemas.openxmlformats.org/drawingml/2006/main"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422600"/>
            <a:ext cx="1104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5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Course instructor: Professor Luyao Zhang. No empirical operational dataset was used; inputs are stylized. Software: Python, NumPy, Matplotlib, nbclient, Gradio. Layout adapted from the official COMSCI/ECON 206 PS2 A0 Poster Template. Research question, model choices, interpretation, and final responsibility are the author’s. AI tools assisted implementation, debugging, literature-search support, reproducibility checking, formatting, and drafting/editing.</a:t>
            </a:r>
          </a:p>
        </p:txBody>
      </p:sp>
      <p:sp>
        <p:nvSpPr>
          <p:cNvPr id="43" name="references-heading">
            <a:extLst xmlns:a="http://schemas.openxmlformats.org/drawingml/2006/main"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7813000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 xmlns:a="http://schemas.openxmlformats.org/drawingml/2006/main"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8422600"/>
            <a:ext cx="14192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14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Chin et al. (2023), Traffic Management Protocols for Advanced Air Mobility. Frontiers in Aerospace Engineering 2:1176969. doi:10.3389/fpace.2023.1176969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14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Maheshwari et al. (2025), Privacy-Preserving Mechanisms for Coordinating Airspace Usage in Advanced Air Mobility. ACM JATS 2(4). doi:10.1145/3732290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14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Raith (1996), A General Model of Information Sharing in Oligopoly. JET 71(1):260–288. doi:10.1006/jeth.1996.0117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14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Harsanyi (1967), Games with Incomplete Information Played by Bayesian Players I. Management Science 14(3):159–182. doi:10.1287/mnsc.14.3.159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142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Vickrey (1961), Counterspeculation, Auctions, and Competitive Sealed Tenders. Journal of Finance 16(1):8–37. doi:10.1111/j.1540-6261.1961.tb02789.x</a:t>
            </a:r>
          </a:p>
        </p:txBody>
      </p:sp>
      <p:sp>
        <p:nvSpPr>
          <p:cNvPr id="45" name="access-heading">
            <a:extLst xmlns:a="http://schemas.openxmlformats.org/drawingml/2006/main"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7813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 xmlns:a="http://schemas.openxmlformats.org/drawingml/2006/main"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850" y="28317825"/>
            <a:ext cx="79057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15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17243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582c077ee3b4362"/>
              </a:rPr>
              <a:t>GitHub · code + reproducibility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15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17243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b90a29058374da7"/>
              </a:rPr>
              <a:t>HF · try the decision lab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15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17243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a35b6b8621e4133"/>
              </a:rPr>
              <a:t>Colab 01 · BNE / welfare / CCAR</a:t>
            </a:r>
            <a:r>
              <a:rPr sz="15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sz="1575" b="0">
                <a:solidFill>
                  <a:srgbClr val="17243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31c24765734c92"/>
              </a:rPr>
              <a:t>Colab 02 · allocation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1575" b="0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65 passed, 0 failed · hosted Run all confirmed</a:t>
            </a:r>
          </a:p>
        </p:txBody>
      </p:sp>
      <p:sp>
        <p:nvSpPr>
          <p:cNvPr id="47" name="hf-qr-placeholder">
            <a:extLst xmlns:a="http://schemas.openxmlformats.org/drawingml/2006/main">
              <a:ext uri="{FF2B5EF4-FFF2-40B4-BE49-F238E27FC236}">
                <a16:creationId xmlns:a16="http://schemas.microsoft.com/office/drawing/2014/main" id="{296FE813-8DC2-4185-ADA6-A77390D7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2125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8" name="hf-qr-label">
            <a:extLst xmlns:a="http://schemas.openxmlformats.org/drawingml/2006/main">
              <a:ext uri="{FF2B5EF4-FFF2-40B4-BE49-F238E27FC236}">
                <a16:creationId xmlns:a16="http://schemas.microsoft.com/office/drawing/2014/main" id="{E242BD6C-81B6-4B83-927B-ABE99A7D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98800" y="28508325"/>
            <a:ext cx="7429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github-qr-placeholder">
            <a:extLst xmlns:a="http://schemas.openxmlformats.org/drawingml/2006/main">
              <a:ext uri="{FF2B5EF4-FFF2-40B4-BE49-F238E27FC236}">
                <a16:creationId xmlns:a16="http://schemas.microsoft.com/office/drawing/2014/main" id="{63890B80-6191-47DE-888B-3D958CCA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8950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0" name="github-qr-label">
            <a:extLst xmlns:a="http://schemas.openxmlformats.org/drawingml/2006/main">
              <a:ext uri="{FF2B5EF4-FFF2-40B4-BE49-F238E27FC236}">
                <a16:creationId xmlns:a16="http://schemas.microsoft.com/office/drawing/2014/main" id="{ADAD9B08-81E1-4FA5-99E7-6DC63E0C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8000" y="28508325"/>
            <a:ext cx="85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format-note">
            <a:extLst xmlns:a="http://schemas.openxmlformats.org/drawingml/2006/main"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832300"/>
            <a:ext cx="401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650" b="0">
                <a:solidFill>
                  <a:srgbClr val="536274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274"/>
                </a:solidFill>
                <a:latin typeface="Calibri"/>
                <a:ea typeface="Calibri"/>
                <a:cs typeface="Calibri"/>
              </a:rPr>
              <a:t>A0 landscape · 1189 × 841 mm · one editable slide · results from tracked outputs · </a:t>
            </a:r>
            <a:r>
              <a:rPr sz="1650" b="0">
                <a:solidFill>
                  <a:srgbClr val="536274"/>
                </a:solidFill>
                <a:latin typeface="Calibri"/>
                <a:ea typeface="Calibri"/>
                <a:cs typeface="Calibri"/>
              </a:rPr>
              <a:t>peer review: PARTIAL (superseded version only)</a:t>
            </a:r>
          </a:p>
        </p:txBody>
      </p:sp>
      <p:sp>
        <p:nvSpPr>
          <p:cNvPr id="54" name="benchmark-qualifier">
            <a:extLst xmlns:a="http://schemas.openxmlformats.org/drawingml/2006/main">
              <a:ext uri="{FF2B5EF4-FFF2-40B4-BE49-F238E27FC236}">
                <a16:creationId xmlns:a16="http://schemas.microsoft.com/office/drawing/2014/main" id="{D68096FC-6823-4D51-B014-8D2ECD9C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0" y="712470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06633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STYLIZED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BENCHMARK</a:t>
            </a:r>
          </a:p>
        </p:txBody>
      </p:sp>
      <p:sp>
        <p:nvSpPr>
          <p:cNvPr id="55" name="pipeline-1">
            <a:extLst xmlns:a="http://schemas.openxmlformats.org/drawingml/2006/main">
              <a:ext uri="{FF2B5EF4-FFF2-40B4-BE49-F238E27FC236}">
                <a16:creationId xmlns:a16="http://schemas.microsoft.com/office/drawing/2014/main" id="{1A2B7F49-B5C2-4A33-9C01-F265AF6D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8850" y="1150620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28575">
            <a:solidFill>
              <a:srgbClr val="003399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Private type +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public congestion</a:t>
            </a:r>
          </a:p>
        </p:txBody>
      </p:sp>
      <p:sp>
        <p:nvSpPr>
          <p:cNvPr id="56" name="pipeline-2">
            <a:extLst xmlns:a="http://schemas.openxmlformats.org/drawingml/2006/main">
              <a:ext uri="{FF2B5EF4-FFF2-40B4-BE49-F238E27FC236}">
                <a16:creationId xmlns:a16="http://schemas.microsoft.com/office/drawing/2014/main" id="{8BED88D8-B301-4326-A731-F8C227B2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7425" y="1150620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28575">
            <a:solidFill>
              <a:srgbClr val="003399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Choose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Minimum / Partial / Full</a:t>
            </a:r>
          </a:p>
        </p:txBody>
      </p:sp>
      <p:sp>
        <p:nvSpPr>
          <p:cNvPr id="57" name="pipeline-3">
            <a:extLst xmlns:a="http://schemas.openxmlformats.org/drawingml/2006/main">
              <a:ext uri="{FF2B5EF4-FFF2-40B4-BE49-F238E27FC236}">
                <a16:creationId xmlns:a16="http://schemas.microsoft.com/office/drawing/2014/main" id="{622AA7F1-AD2C-4B94-A94C-C78AF17B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0" y="1150620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28575">
            <a:solidFill>
              <a:srgbClr val="003399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Compute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pure BNE</a:t>
            </a:r>
          </a:p>
        </p:txBody>
      </p:sp>
      <p:sp>
        <p:nvSpPr>
          <p:cNvPr id="58" name="pipeline-4">
            <a:extLst xmlns:a="http://schemas.openxmlformats.org/drawingml/2006/main">
              <a:ext uri="{FF2B5EF4-FFF2-40B4-BE49-F238E27FC236}">
                <a16:creationId xmlns:a16="http://schemas.microsoft.com/office/drawing/2014/main" id="{DED9BDF0-1461-47B7-884E-C3E41AE8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4575" y="1150620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28575">
            <a:solidFill>
              <a:srgbClr val="003399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Compare welfare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with first best</a:t>
            </a:r>
          </a:p>
        </p:txBody>
      </p:sp>
      <p:sp>
        <p:nvSpPr>
          <p:cNvPr id="59" name="pipeline-5">
            <a:extLst xmlns:a="http://schemas.openxmlformats.org/drawingml/2006/main">
              <a:ext uri="{FF2B5EF4-FFF2-40B4-BE49-F238E27FC236}">
                <a16:creationId xmlns:a16="http://schemas.microsoft.com/office/drawing/2014/main" id="{C74ED7FC-FD3F-4399-9F41-DCA6E633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8850" y="1346835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6F2"/>
          </a:solidFill>
          <a:ln xmlns:a="http://schemas.openxmlformats.org/drawingml/2006/main" w="28575">
            <a:solidFill>
              <a:srgbClr val="006633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Test CCAR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incentives</a:t>
            </a:r>
          </a:p>
        </p:txBody>
      </p:sp>
      <p:sp>
        <p:nvSpPr>
          <p:cNvPr id="60" name="pipeline-6">
            <a:extLst xmlns:a="http://schemas.openxmlformats.org/drawingml/2006/main">
              <a:ext uri="{FF2B5EF4-FFF2-40B4-BE49-F238E27FC236}">
                <a16:creationId xmlns:a16="http://schemas.microsoft.com/office/drawing/2014/main" id="{2D201D55-0EBD-47AB-998A-A638D87C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7425" y="1346835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6F2"/>
          </a:solidFill>
          <a:ln xmlns:a="http://schemas.openxmlformats.org/drawingml/2006/main" w="28575">
            <a:solidFill>
              <a:srgbClr val="006633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Decision Lab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Solo + Peer Play</a:t>
            </a:r>
          </a:p>
        </p:txBody>
      </p:sp>
      <p:sp>
        <p:nvSpPr>
          <p:cNvPr id="61" name="pipeline-7">
            <a:extLst xmlns:a="http://schemas.openxmlformats.org/drawingml/2006/main">
              <a:ext uri="{FF2B5EF4-FFF2-40B4-BE49-F238E27FC236}">
                <a16:creationId xmlns:a16="http://schemas.microsoft.com/office/drawing/2014/main" id="{0F20376A-547E-4F24-9027-56BC90E4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0" y="1346835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6F2"/>
          </a:solidFill>
          <a:ln xmlns:a="http://schemas.openxmlformats.org/drawingml/2006/main" w="28575">
            <a:solidFill>
              <a:srgbClr val="006633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Priority-slot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allocation</a:t>
            </a:r>
          </a:p>
        </p:txBody>
      </p:sp>
      <p:sp>
        <p:nvSpPr>
          <p:cNvPr id="62" name="pipeline-8">
            <a:extLst xmlns:a="http://schemas.openxmlformats.org/drawingml/2006/main">
              <a:ext uri="{FF2B5EF4-FFF2-40B4-BE49-F238E27FC236}">
                <a16:creationId xmlns:a16="http://schemas.microsoft.com/office/drawing/2014/main" id="{C6D9321B-1C75-4C01-9B25-D6C521E1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4575" y="13468350"/>
            <a:ext cx="3333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6F2"/>
          </a:solidFill>
          <a:ln xmlns:a="http://schemas.openxmlformats.org/drawingml/2006/main" w="28575">
            <a:solidFill>
              <a:srgbClr val="006633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Robustness +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025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design implication</a:t>
            </a:r>
          </a:p>
        </p:txBody>
      </p:sp>
      <p:cxnSp>
        <p:nvCxnSpPr>
          <p:cNvPr id="311" name=""/>
          <p:cNvCxnSpPr>
            <a:stCxn xmlns:a="http://schemas.openxmlformats.org/drawingml/2006/main" id="55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>
            <a:off x="16992600" y="121348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3399"/>
            </a:solidFill>
            <a:prstDash val="solid"/>
            <a:tailEnd type="triangle" w="sm" len="sm"/>
          </a:ln>
        </p:spPr>
      </p:cxnSp>
      <p:cxnSp>
        <p:nvCxnSpPr>
          <p:cNvPr id="312" name=""/>
          <p:cNvCxnSpPr>
            <a:stCxn xmlns:a="http://schemas.openxmlformats.org/drawingml/2006/main" id="56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20831175" y="121348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3399"/>
            </a:solidFill>
            <a:prstDash val="solid"/>
            <a:tailEnd type="triangle" w="sm" len="sm"/>
          </a:ln>
        </p:spPr>
      </p:cxnSp>
      <p:cxnSp>
        <p:nvCxnSpPr>
          <p:cNvPr id="313" name=""/>
          <p:cNvCxnSpPr>
            <a:stCxn xmlns:a="http://schemas.openxmlformats.org/drawingml/2006/main" id="57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>
            <a:off x="24669750" y="121348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3399"/>
            </a:solidFill>
            <a:prstDash val="solid"/>
            <a:tailEnd type="triangle" w="sm" len="sm"/>
          </a:ln>
        </p:spPr>
      </p:cxnSp>
      <p:cxnSp>
        <p:nvCxnSpPr>
          <p:cNvPr id="314" name=""/>
          <p:cNvCxnSpPr>
            <a:stCxn xmlns:a="http://schemas.openxmlformats.org/drawingml/2006/main" id="58" idx="2"/>
            <a:endCxn xmlns:a="http://schemas.openxmlformats.org/drawingml/2006/main" id="59" idx="0"/>
          </p:cNvCxnSpPr>
          <p:nvPr/>
        </p:nvCxnSpPr>
        <p:spPr>
          <a:xfrm xmlns:a="http://schemas.openxmlformats.org/drawingml/2006/main" flipH="1">
            <a:off x="15325725" y="12763500"/>
            <a:ext cx="11515725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38100">
            <a:solidFill>
              <a:srgbClr val="138A83"/>
            </a:solidFill>
            <a:prstDash val="solid"/>
            <a:tailEnd type="triangle" w="sm" len="sm"/>
          </a:ln>
        </p:spPr>
      </p:cxnSp>
      <p:cxnSp>
        <p:nvCxnSpPr>
          <p:cNvPr id="315" name=""/>
          <p:cNvCxnSpPr>
            <a:stCxn xmlns:a="http://schemas.openxmlformats.org/drawingml/2006/main" id="59" idx="3"/>
            <a:endCxn xmlns:a="http://schemas.openxmlformats.org/drawingml/2006/main" id="60" idx="1"/>
          </p:cNvCxnSpPr>
          <p:nvPr/>
        </p:nvCxnSpPr>
        <p:spPr>
          <a:xfrm xmlns:a="http://schemas.openxmlformats.org/drawingml/2006/main">
            <a:off x="16992600" y="1409700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6633"/>
            </a:solidFill>
            <a:prstDash val="solid"/>
            <a:tailEnd type="triangle" w="sm" len="sm"/>
          </a:ln>
        </p:spPr>
      </p:cxnSp>
      <p:cxnSp>
        <p:nvCxnSpPr>
          <p:cNvPr id="316" name=""/>
          <p:cNvCxnSpPr>
            <a:stCxn xmlns:a="http://schemas.openxmlformats.org/drawingml/2006/main" id="60" idx="3"/>
            <a:endCxn xmlns:a="http://schemas.openxmlformats.org/drawingml/2006/main" id="61" idx="1"/>
          </p:cNvCxnSpPr>
          <p:nvPr/>
        </p:nvCxnSpPr>
        <p:spPr>
          <a:xfrm xmlns:a="http://schemas.openxmlformats.org/drawingml/2006/main">
            <a:off x="20831175" y="1409700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6633"/>
            </a:solidFill>
            <a:prstDash val="solid"/>
            <a:tailEnd type="triangle" w="sm" len="sm"/>
          </a:ln>
        </p:spPr>
      </p:cxnSp>
      <p:cxnSp>
        <p:nvCxnSpPr>
          <p:cNvPr id="317" name=""/>
          <p:cNvCxnSpPr>
            <a:stCxn xmlns:a="http://schemas.openxmlformats.org/drawingml/2006/main" id="61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24669750" y="1409700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6633"/>
            </a:solidFill>
            <a:prstDash val="solid"/>
            <a:tailEnd type="triangle" w="sm" len="sm"/>
          </a:ln>
        </p:spPr>
      </p:cxnSp>
      <p:sp>
        <p:nvSpPr>
          <p:cNvPr id="70" name="result-headline">
            <a:extLst xmlns:a="http://schemas.openxmlformats.org/drawingml/2006/main">
              <a:ext uri="{FF2B5EF4-FFF2-40B4-BE49-F238E27FC236}">
                <a16:creationId xmlns:a16="http://schemas.microsoft.com/office/drawing/2014/main" id="{68082AC2-F875-480D-8D01-11627F5E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8850" y="17926050"/>
            <a:ext cx="15487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30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Largest benchmark welfare gap: MEDIUM congestion</a:t>
            </a:r>
          </a:p>
        </p:txBody>
      </p:sp>
      <p:graphicFrame>
        <p:nvGraphicFramePr>
          <p:cNvPr id="319" name=""/>
          <p:cNvGraphicFramePr/>
          <p:nvPr/>
        </p:nvGraphicFramePr>
        <p:xfrm>
          <a:off xmlns:a="http://schemas.openxmlformats.org/drawingml/2006/main" x="13658850" y="18669000"/>
          <a:ext xmlns:a="http://schemas.openxmlformats.org/drawingml/2006/main" cx="7334250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381250"/>
                <a:gridCol w="2381250"/>
              </a:tblGrid>
              <a:tr h="5905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CONGESTION</a:t>
                      </a:r>
                    </a:p>
                  </a:txBody>
                  <a:tcPr marL="91440" marR="91440" marT="45720" marB="45720" anchor="ctr" horzOverflow="clip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LOW TYPE</a:t>
                      </a:r>
                    </a:p>
                  </a:txBody>
                  <a:tcPr marL="91440" marR="91440" marT="45720" marB="45720" anchor="ctr" horzOverflow="clip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HIGH TYPE</a:t>
                      </a:r>
                    </a:p>
                  </a:txBody>
                  <a:tcPr marL="91440" marR="91440" marT="45720" marB="45720" anchor="ctr" horzOverflow="clip">
                    <a:solidFill>
                      <a:srgbClr val="00339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LOW</a:t>
                      </a:r>
                    </a:p>
                  </a:txBody>
                  <a:tcPr marL="38100" marR="381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Minimum</a:t>
                      </a:r>
                    </a:p>
                  </a:txBody>
                  <a:tcPr marL="38100" marR="381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Minimum</a:t>
                      </a:r>
                    </a:p>
                  </a:txBody>
                  <a:tcPr marL="38100" marR="38100" marT="38100" marB="381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MEDIUM</a:t>
                      </a:r>
                    </a:p>
                  </a:txBody>
                  <a:tcPr marL="38100" marR="38100" marT="38100" marB="38100" anchor="ctr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Partial</a:t>
                      </a:r>
                    </a:p>
                  </a:txBody>
                  <a:tcPr marL="38100" marR="38100" marT="38100" marB="38100" anchor="ctr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Minimum</a:t>
                      </a:r>
                    </a:p>
                  </a:txBody>
                  <a:tcPr marL="38100" marR="38100" marT="38100" marB="38100" anchor="ctr">
                    <a:solidFill>
                      <a:srgbClr val="FFF3E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HIGH</a:t>
                      </a:r>
                    </a:p>
                  </a:txBody>
                  <a:tcPr marL="38100" marR="381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Partial</a:t>
                      </a:r>
                    </a:p>
                  </a:txBody>
                  <a:tcPr marL="38100" marR="381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43A"/>
                          </a:solidFill>
                          <a:latin typeface="Calibri"/>
                          <a:ea typeface="Calibri"/>
                          <a:cs typeface="Calibri"/>
                        </a:rPr>
                        <a:t>Partial</a:t>
                      </a:r>
                    </a:p>
                  </a:txBody>
                  <a:tcPr marL="38100" marR="381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" name="gap-label">
            <a:extLst xmlns:a="http://schemas.openxmlformats.org/drawingml/2006/main">
              <a:ext uri="{FF2B5EF4-FFF2-40B4-BE49-F238E27FC236}">
                <a16:creationId xmlns:a16="http://schemas.microsoft.com/office/drawing/2014/main" id="{C76AEF73-7671-445A-9FA4-55DCD9B3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950" y="214312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57150" rIns="76200" bIns="571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025" b="1">
                <a:solidFill>
                  <a:srgbClr val="53627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536274"/>
                </a:solidFill>
                <a:latin typeface="Calibri"/>
                <a:ea typeface="Calibri"/>
                <a:cs typeface="Calibri"/>
              </a:rPr>
              <a:t>WELFARE GAP</a:t>
            </a:r>
          </a:p>
        </p:txBody>
      </p:sp>
      <p:sp>
        <p:nvSpPr>
          <p:cNvPr id="73" name="gap-low">
            <a:extLst xmlns:a="http://schemas.openxmlformats.org/drawingml/2006/main">
              <a:ext uri="{FF2B5EF4-FFF2-40B4-BE49-F238E27FC236}">
                <a16:creationId xmlns:a16="http://schemas.microsoft.com/office/drawing/2014/main" id="{08ACFE3C-E2C3-46FE-9BCF-DE8DC930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950" y="21831300"/>
            <a:ext cx="2171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9050">
            <a:solidFill>
              <a:srgbClr val="003399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5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LOW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5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0.639</a:t>
            </a:r>
          </a:p>
        </p:txBody>
      </p:sp>
      <p:sp>
        <p:nvSpPr>
          <p:cNvPr id="74" name="gap-medium">
            <a:extLst xmlns:a="http://schemas.openxmlformats.org/drawingml/2006/main">
              <a:ext uri="{FF2B5EF4-FFF2-40B4-BE49-F238E27FC236}">
                <a16:creationId xmlns:a16="http://schemas.microsoft.com/office/drawing/2014/main" id="{1F49F0E2-FAFA-431F-A4B4-0CDFCBC7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21831300"/>
            <a:ext cx="2171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67E22"/>
          </a:solidFill>
          <a:ln xmlns:a="http://schemas.openxmlformats.org/drawingml/2006/main" w="19050">
            <a:solidFill>
              <a:srgbClr val="E67E22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MEDIUM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0.946</a:t>
            </a:r>
          </a:p>
        </p:txBody>
      </p:sp>
      <p:sp>
        <p:nvSpPr>
          <p:cNvPr id="75" name="gap-high">
            <a:extLst xmlns:a="http://schemas.openxmlformats.org/drawingml/2006/main">
              <a:ext uri="{FF2B5EF4-FFF2-40B4-BE49-F238E27FC236}">
                <a16:creationId xmlns:a16="http://schemas.microsoft.com/office/drawing/2014/main" id="{8A9571CE-57D9-4804-959B-9D25954B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97550" y="21831300"/>
            <a:ext cx="2171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9050">
            <a:solidFill>
              <a:srgbClr val="003399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5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HIGH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5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0.503</a:t>
            </a:r>
          </a:p>
        </p:txBody>
      </p:sp>
      <p:sp>
        <p:nvSpPr>
          <p:cNvPr id="76" name="ccar-title">
            <a:extLst xmlns:a="http://schemas.openxmlformats.org/drawingml/2006/main">
              <a:ext uri="{FF2B5EF4-FFF2-40B4-BE49-F238E27FC236}">
                <a16:creationId xmlns:a16="http://schemas.microsoft.com/office/drawing/2014/main" id="{717CA4D2-8013-43CD-B807-6CB1A062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0" y="18669000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55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Candidate mechanism: CCAR</a:t>
            </a:r>
          </a:p>
        </p:txBody>
      </p:sp>
      <p:sp>
        <p:nvSpPr>
          <p:cNvPr id="77" name="ccar-boundary">
            <a:extLst xmlns:a="http://schemas.openxmlformats.org/drawingml/2006/main">
              <a:ext uri="{FF2B5EF4-FFF2-40B4-BE49-F238E27FC236}">
                <a16:creationId xmlns:a16="http://schemas.microsoft.com/office/drawing/2014/main" id="{457625C0-16CA-4CB0-A7EA-18D834B8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0" y="191928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875" b="0">
                <a:solidFill>
                  <a:srgbClr val="536274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536274"/>
                </a:solidFill>
                <a:latin typeface="Calibri"/>
                <a:ea typeface="Calibri"/>
                <a:cs typeface="Calibri"/>
              </a:rPr>
              <a:t>Mandatory safety information remains universal. Only enhanced non-safety access changes.</a:t>
            </a:r>
          </a:p>
        </p:txBody>
      </p:sp>
      <p:sp>
        <p:nvSpPr>
          <p:cNvPr id="78" name="ccar-baseline">
            <a:extLst xmlns:a="http://schemas.openxmlformats.org/drawingml/2006/main">
              <a:ext uri="{FF2B5EF4-FFF2-40B4-BE49-F238E27FC236}">
                <a16:creationId xmlns:a16="http://schemas.microsoft.com/office/drawing/2014/main" id="{3C6601B8-754B-4BE2-9DE5-43CEC7C4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0" y="19907250"/>
            <a:ext cx="3143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9050">
            <a:solidFill>
              <a:srgbClr val="003399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1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BASELINE · MEDIUM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1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Low type: Partial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1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High type: Minimum</a:t>
            </a:r>
          </a:p>
        </p:txBody>
      </p:sp>
      <p:sp>
        <p:nvSpPr>
          <p:cNvPr id="79" name="ccar-treatment">
            <a:extLst xmlns:a="http://schemas.openxmlformats.org/drawingml/2006/main">
              <a:ext uri="{FF2B5EF4-FFF2-40B4-BE49-F238E27FC236}">
                <a16:creationId xmlns:a16="http://schemas.microsoft.com/office/drawing/2014/main" id="{2A0C67F2-0211-4230-BF22-C9FF26E7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0" y="19907250"/>
            <a:ext cx="3143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7F6F2"/>
          </a:solidFill>
          <a:ln xmlns:a="http://schemas.openxmlformats.org/drawingml/2006/main" w="19050">
            <a:solidFill>
              <a:srgbClr val="006633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1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CCAR · αM = 0.7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1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Low type: Partial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1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High type: Partial</a:t>
            </a:r>
          </a:p>
        </p:txBody>
      </p:sp>
      <p:cxnSp>
        <p:nvCxnSpPr>
          <p:cNvPr id="328" name=""/>
          <p:cNvCxnSpPr>
            <a:stCxn xmlns:a="http://schemas.openxmlformats.org/drawingml/2006/main" id="78" idx="3"/>
            <a:endCxn xmlns:a="http://schemas.openxmlformats.org/drawingml/2006/main" id="79" idx="1"/>
          </p:cNvCxnSpPr>
          <p:nvPr/>
        </p:nvCxnSpPr>
        <p:spPr>
          <a:xfrm xmlns:a="http://schemas.openxmlformats.org/drawingml/2006/main">
            <a:off x="24860250" y="2080260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E67E22"/>
            </a:solidFill>
            <a:prstDash val="solid"/>
            <a:tailEnd type="triangle" w="med" len="med"/>
          </a:ln>
        </p:spPr>
      </p:cxnSp>
      <p:sp>
        <p:nvSpPr>
          <p:cNvPr id="81" name="ccar-metrics">
            <a:extLst xmlns:a="http://schemas.openxmlformats.org/drawingml/2006/main">
              <a:ext uri="{FF2B5EF4-FFF2-40B4-BE49-F238E27FC236}">
                <a16:creationId xmlns:a16="http://schemas.microsoft.com/office/drawing/2014/main" id="{06076162-64E1-4ACE-B52B-8C91F27F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0" y="21812250"/>
            <a:ext cx="71437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8EC"/>
          </a:solidFill>
          <a:ln xmlns:a="http://schemas.openxmlformats.org/drawingml/2006/main" w="19050">
            <a:solidFill>
              <a:srgbClr val="E67E22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24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UNDERLYING WELFARE  2.193 → 3.089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2400" b="1">
                <a:solidFill>
                  <a:srgbClr val="17243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17243A"/>
                </a:solidFill>
                <a:latin typeface="Calibri"/>
                <a:ea typeface="Calibri"/>
                <a:cs typeface="Calibri"/>
              </a:rPr>
              <a:t>GAP  0.946 → 0.050</a:t>
            </a:r>
          </a:p>
        </p:txBody>
      </p:sp>
      <p:sp>
        <p:nvSpPr>
          <p:cNvPr id="82" name="ccar-qualifier">
            <a:extLst xmlns:a="http://schemas.openxmlformats.org/drawingml/2006/main">
              <a:ext uri="{FF2B5EF4-FFF2-40B4-BE49-F238E27FC236}">
                <a16:creationId xmlns:a16="http://schemas.microsoft.com/office/drawing/2014/main" id="{3C4332B8-8224-4C0E-A263-EA25F6A8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0" y="23241000"/>
            <a:ext cx="733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57150" rIns="76200" bIns="57150" anchor="ctr">
            <a:normAutofit fontScale="927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8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Under the benchmark parameterization, CCAR moves the medium-congestion equilibrium closer to the full-information first best.</a:t>
            </a:r>
          </a:p>
        </p:txBody>
      </p:sp>
      <p:pic>
        <p:nvPicPr>
          <p:cNvPr id="3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0248d219c34502"/>
          <a:stretch xmlns:a="http://schemas.openxmlformats.org/drawingml/2006/main"/>
        </p:blipFill>
        <p:spPr>
          <a:xfrm xmlns:a="http://schemas.openxmlformats.org/drawingml/2006/main">
            <a:off x="38690550" y="28136850"/>
            <a:ext cx="1314450" cy="1314450"/>
          </a:xfrm>
          <a:prstGeom xmlns:a="http://schemas.openxmlformats.org/drawingml/2006/main" prst="rect">
            <a:avLst/>
          </a:prstGeom>
        </p:spPr>
      </p:pic>
      <p:pic>
        <p:nvPicPr>
          <p:cNvPr id="3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052f8f39884e3f"/>
          <a:stretch xmlns:a="http://schemas.openxmlformats.org/drawingml/2006/main"/>
        </p:blipFill>
        <p:spPr>
          <a:xfrm xmlns:a="http://schemas.openxmlformats.org/drawingml/2006/main">
            <a:off x="40109775" y="28136850"/>
            <a:ext cx="1314450" cy="1314450"/>
          </a:xfrm>
          <a:prstGeom xmlns:a="http://schemas.openxmlformats.org/drawingml/2006/main" prst="rect">
            <a:avLst/>
          </a:prstGeom>
        </p:spPr>
      </p:pic>
      <p:sp>
        <p:nvSpPr>
          <p:cNvPr id="85" name="hf-qr-caption">
            <a:extLst xmlns:a="http://schemas.openxmlformats.org/drawingml/2006/main">
              <a:ext uri="{FF2B5EF4-FFF2-40B4-BE49-F238E27FC236}">
                <a16:creationId xmlns:a16="http://schemas.microsoft.com/office/drawing/2014/main" id="{C1D71D8B-6FB5-40EE-80CB-70000182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0550" y="29432250"/>
            <a:ext cx="131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2000"/>
              </a:lnSpc>
              <a:buNone/>
              <a:defRPr sz="975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TRY THE</a:t>
            </a:r>
          </a:p>
          <a:p xmlns:a="http://schemas.openxmlformats.org/drawingml/2006/main">
            <a:pPr algn="ctr">
              <a:lnSpc>
                <a:spcPct val="82000"/>
              </a:lnSpc>
              <a:buNone/>
              <a:defRPr sz="975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DECISION LAB</a:t>
            </a:r>
          </a:p>
        </p:txBody>
      </p:sp>
      <p:sp>
        <p:nvSpPr>
          <p:cNvPr id="86" name="github-qr-caption">
            <a:extLst xmlns:a="http://schemas.openxmlformats.org/drawingml/2006/main">
              <a:ext uri="{FF2B5EF4-FFF2-40B4-BE49-F238E27FC236}">
                <a16:creationId xmlns:a16="http://schemas.microsoft.com/office/drawing/2014/main" id="{353F6D35-69D0-401F-8AD2-72BA4537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9775" y="29432250"/>
            <a:ext cx="131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2000"/>
              </a:lnSpc>
              <a:buNone/>
              <a:defRPr sz="9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CODE +</a:t>
            </a:r>
          </a:p>
          <a:p xmlns:a="http://schemas.openxmlformats.org/drawingml/2006/main">
            <a:pPr algn="ctr">
              <a:lnSpc>
                <a:spcPct val="82000"/>
              </a:lnSpc>
              <a:buNone/>
              <a:defRPr sz="9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81398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2026-10-03T11:29:16.2410000Z</dcterms:created>
  <dcterms:modified xsi:type="dcterms:W3CDTF">2026-10-03T11:29:16.2410000Z</dcterms:modified>
</coreProperties>
</file>