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920b45f964c07" /><Relationship Type="http://schemas.openxmlformats.org/officeDocument/2006/relationships/extended-properties" Target="/docProps/app.xml" Id="R8e677e9392d14173" /><Relationship Type="http://schemas.openxmlformats.org/officeDocument/2006/relationships/officeDocument" Target="/ppt/presentation.xml" Id="R273a7c3648b7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f84e5416348ee"/>
  </p:sldMasterIdLst>
  <p:notesMasterIdLst>
    <p:notesMasterId xmlns:r="http://schemas.openxmlformats.org/officeDocument/2006/relationships" r:id="R1eafbd00264247de"/>
  </p:notesMasterIdLst>
  <p:sldIdLst>
    <p:sldId xmlns:r="http://schemas.openxmlformats.org/officeDocument/2006/relationships" id="256" r:id="R5842fc7f07604ccb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8132118eb4ce4" /><Relationship Type="http://schemas.openxmlformats.org/officeDocument/2006/relationships/slideMaster" Target="/ppt/slideMasters/slideMaster1.xml" Id="R085f84e5416348ee" /><Relationship Type="http://schemas.openxmlformats.org/officeDocument/2006/relationships/notesMaster" Target="/ppt/notesMasters/notesMaster1.xml" Id="R1eafbd00264247de" /><Relationship Type="http://schemas.openxmlformats.org/officeDocument/2006/relationships/presProps" Target="/ppt/presProps.xml" Id="R41122c245064420c" /><Relationship Type="http://schemas.openxmlformats.org/officeDocument/2006/relationships/tableStyles" Target="/ppt/tableStyles.xml" Id="R7def08a40694495d" /><Relationship Type="http://schemas.openxmlformats.org/officeDocument/2006/relationships/slide" Target="/ppt/slides/slide1.xml" Id="R5842fc7f0760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cbbe16797840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d8d09a8aa4490" /><Relationship Type="http://schemas.openxmlformats.org/officeDocument/2006/relationships/notesMaster" Target="/ppt/notesMasters/notesMaster1.xml" Id="R93850e2c7628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Poster sources: outputs/tables/baseline_bne_summary.csv; baseline_welfare_gap.csv; ccar_bne_summary.csv; ccar_failure_regions.csv; auction_benchmark_example.csv.</a:t>
            </a:r>
          </a:p>
          <a:p xmlns:a="http://schemas.openxmlformats.org/drawingml/2006/main">
            <a:r>
              <a:t>Reproducibility checkpoint: ffa4836208a3f647181771646c5639286c0726e6.</a:t>
            </a:r>
          </a:p>
          <a:p xmlns:a="http://schemas.openxmlformats.org/drawingml/2006/main">
            <a:r>
              <a:t>Public artifacts: GitHub repository, Hugging Face Space, Colab 01 and Colab 02 as printed on the poster.</a:t>
            </a:r>
          </a:p>
          <a:p xmlns:a="http://schemas.openxmlformats.org/drawingml/2006/main">
            <a:r>
              <a:t>All inputs are stylized; no empirical operational or representative behavioral dataset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414b346db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d86cd62f64aa5" /><Relationship Type="http://schemas.openxmlformats.org/officeDocument/2006/relationships/slideLayout" Target="/ppt/slideLayouts/slideLayout1.xml" Id="Rf60e137f053d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e137f053d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bb50540fb4861" /><Relationship Type="http://schemas.openxmlformats.org/officeDocument/2006/relationships/image" Target="/ppt/media/image.png" Id="Rbbf9b896146d4868" /><Relationship Type="http://schemas.openxmlformats.org/officeDocument/2006/relationships/hyperlink" Target="https://github.com/dku-comsci-econ206-Autumn2026/PS2-FP10-ShareOrHide-Yiqiao" TargetMode="External" Id="R1dbeecf03cf440cb" /><Relationship Type="http://schemas.openxmlformats.org/officeDocument/2006/relationships/hyperlink" Target="https://huggingface.co/spaces/dku-comsci-econ206-2026/ps2-share-or-hide-drone-disclosure" TargetMode="External" Id="Re3e9527452be4137" /><Relationship Type="http://schemas.openxmlformats.org/officeDocument/2006/relationships/hyperlink" Target="https://colab.research.google.com/github/dku-comsci-econ206-Autumn2026/PS2-FP10-ShareOrHide-Yiqiao/blob/main/notebooks/01_strategic_disclosure_game.ipynb" TargetMode="External" Id="R5f7333562e1443d6" /><Relationship Type="http://schemas.openxmlformats.org/officeDocument/2006/relationships/hyperlink" Target="https://colab.research.google.com/github/dku-comsci-econ206-Autumn2026/PS2-FP10-ShareOrHide-Yiqiao/blob/main/notebooks/02_priority_slot_allocation.ipynb" TargetMode="External" Id="R49564dc0676447e1" /><Relationship Type="http://schemas.openxmlformats.org/officeDocument/2006/relationships/image" Target="/ppt/media/image2.png" Id="Ra71847ea86d24a95" /><Relationship Type="http://schemas.openxmlformats.org/officeDocument/2006/relationships/image" Target="/ppt/media/image3.png" Id="R07ada6faf11340e8" /><Relationship Type="http://schemas.openxmlformats.org/officeDocument/2006/relationships/notesSlide" Target="/ppt/notesSlides/notesSlide1.xml" Id="R5fe6ccbd568241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96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025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FINAL POSTER  ·  VALIDATED BASELINE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38300"/>
            <a:ext cx="291465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72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2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Share or Hide?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72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2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Disclosure in Congested Low-Altitude Drone Traffic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Yiqiao Liu   ·   FP10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9b896146d4868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858000"/>
            <a:ext cx="3333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“The largest benchmark coordination failure appears at intermediate congestion, where additional disclosure is socially valuable but remains privately unattractive to confidentiality-sensitive operators.”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830050"/>
            <a:ext cx="110490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69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PRIMARY  When operators privately differ in confidentiality cost, how does congestion affect strategic disclosure, and when does BNE fall below the full-information first best?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INTEGRATED  How should low-altitude traffic systems structure non-safety sharing when confidentiality remains private but coordination is collective?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SETTING  Capacity-constrained urban drone-delivery corridors. Stakeholders: operators, traffic authority, customers, nearby/public stakeholders, emergency users.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VERIFIED GAP  Existing AAM work studies protocols, privacy mechanisms, and auctions. Here disclosure granularity is an endogenous choice under private commercial cost and congestion-dependent information value.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449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0"/>
            <a:ext cx="11049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22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STATIC BAYESIAN GAME  ·  INCOMPLETE INFORMATION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2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Players A, B. Private cᵢ ∈ {1, 1.6}; Pr(L)=Pr(H)=0.5. Public d: Low .3 | Medium .6 | High 1.0.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2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Actions: Minimum = mandatory/basic safety only; Partial = next sector + coarse ETA + traffic volume; Full = richer route/timing/trajectory.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2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Safety floor: Minimum never withholds required or safety-critical information.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2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uᵢ = dB[1−exp(−λ(xᵢ+xⱼ))] − cᵢk(aᵢ)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2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B=7.5; λ=.5; x=(0,1,2); k=(0,1,2.5). Solution: pure-strategy Bayesian Nash equilibrium.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691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88300"/>
            <a:ext cx="1104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92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GAME THEORY  Private types + M/P/F disclosure → Bayesian equilibrium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SOCIAL CHOICE  BNE welfare vs full-information first best → efficiency and burden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3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MECHANISM DESIGN  CCAR access rule + priority allocation → incentive robustness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22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Downstream Week 5 allocation application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92680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Resource: one commercial priority slot, K=1; emergency/public-safety missions remain outside the auction.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Values A/B/C/D = 8/5/3/2; FCFS arrival B → C → A → D.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FCFS  B wins | value 5 | efficiency 62.5%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SECOND PRICE  A wins | payment 5 | utility 3 | efficiency 100%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Boundary: downstream scarcity allocation, not the disclosure mechanism.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C7D2DF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2917805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21050"/>
            <a:ext cx="16135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0">
                <a:solidFill>
                  <a:srgbClr val="53627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536274"/>
                </a:solidFill>
                <a:latin typeface="Calibri"/>
                <a:ea typeface="Calibri"/>
                <a:cs typeface="Calibri"/>
              </a:rPr>
              <a:t>Figure 1. Economic model → verified computation → behavioral probe → bounded allocation → revision gate.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19050">
            <a:solidFill>
              <a:srgbClr val="C7D2DF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0010120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098250"/>
            <a:ext cx="16135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WHY MEDIUM?  At high congestion, even the high-confidentiality type chooses Partial. At medium congestion, added disclosure is socially valuable but remains privately unattractive.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ROBUSTNESS  760 validated cells: 401 no equilibrium-set effect | 334 welfare improvement | 18 excessive-disclosure diagnostic | 3 larger gap | 66 multiple pure BNE | 0 no pure BNE. Categories overlap; these are not probabilities.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DESIGN MESSAGE  Mechanism performance is parameter-dependent.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impact: a real-world case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0" y="11830050"/>
            <a:ext cx="110490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75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CASE  Commercial drone-delivery operators sharing capacity-constrained urban low-altitude corridors.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DECISION  How much non-safety flight-intent information to share; how to allocate residual commercial priority scarcity.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POTENTIAL BENEFIT  Better coordination, lower delay, more efficient corridor use.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RISKS  Commercial confidentiality, unequal access, over-disclosure, misspecified incentives.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BEFORE ADOPTION  Pilot calibration and confidentiality values; latency/reliability; safety and distributional review.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1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CORRECTION  Auditable rule, safety-information floor, appeal/review, parameter revision, or suspension.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Interdisciplinary evidence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0" y="16497300"/>
            <a:ext cx="110490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7"/>
          </a:solidFill>
          <a:ln xmlns:a="http://schemas.openxmlformats.org/drawingml/2006/main" w="19050">
            <a:solidFill>
              <a:srgbClr val="006633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6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TESTABLE IMPLICATION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In an intermediate-congestion pilot with synthetic or calibrated confidentiality types, conditioning only enhanced non-safety coordination access on Partial/Full disclosure should increase Partial disclosure among confidentiality-sensitive operators relative to the baseline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QUALIFY / REJECT IF  disclosure becomes excessive; the welfare gap rises; access becomes systematically unequal; or operational/privacy costs dominate.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BEHAVIORAL SCIENCE  Hugging Face Decision Lab: Solo Decision, reflection, Peer Play, benchmark reveal, CCAR comparison, auction exercise.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Evidence boundary: exploratory classroom decision exercise; not representative evidence about real drone operators.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COMPUTER SCIENCE  GitHub + Colab 01 (BNE / welfare / CCAR) + Colab 02 (FCFS / second price).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0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Integration: the model defines the benchmark shown in the artifact; participant reflection identifies where predictions may require behavioral qualification.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Limitations &amp; next test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0" y="22879050"/>
            <a:ext cx="1104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9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LIMITS  Two operators and types; independent private types; pure strategies; stylized parameters; no calibration; first best may be nonimplementable; CCAR cost omitted; IPV auction; interdependent mission values; exploratory demo.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9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NEXT TEST  Compare baseline and CCAR under trusted-partner and competitive framing; classify deviations by privacy salience, reciprocity/fairness, or strategic misunderstanding.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950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REVIEWER QUESTION  At what congestion and confidentiality conditions should enhanced access become conditional without creating excessive disclosure or unequal access?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PEER REVIEW: PARTIAL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Superseded-version review only; no final-topic review.
Checkpoint:</a:t>
            </a:r>
            <a:r>
              <a:rPr sz="202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 ffa4836208a3f647181771646c5639286c0726e6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22600"/>
            <a:ext cx="1104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Course instructor: Professor Luyao Zhang. No empirical operational dataset was used; inputs are stylized. Software: Python, NumPy, Matplotlib, nbclient, Gradio. Layout adapted from the official COMSCI/ECON 206 PS2 A0 Poster Template. Research question, model choices, interpretation, and final responsibility are the author’s. AI tools assisted implementation, debugging, literature-search support, reproducibility checking, formatting, and drafting/editing.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22600"/>
            <a:ext cx="1419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14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Chin et al. (2023), Traffic Management Protocols for Advanced Air Mobility. Frontiers in Aerospace Engineering 2:1176969. doi:10.3389/fpace.2023.1176969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4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Maheshwari et al. (2025), Privacy-Preserving Mechanisms for Coordinating Airspace Usage in Advanced Air Mobility. ACM JATS 2(4). doi:10.1145/3732290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4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Raith (1996), A General Model of Information Sharing in Oligopoly. JET 71(1):260–288. doi:10.1006/jeth.1996.0117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4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Harsanyi (1967), Games with Incomplete Information Played by Bayesian Players I. Management Science 14(3):159–182. doi:10.1287/mnsc.14.3.159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42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Vickrey (1961), Counterspeculation, Auctions, and Competitive Sealed Tenders. Journal of Finance 16(1):8–37. doi:10.1111/j.1540-6261.1961.tb02789.x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0" y="28317825"/>
            <a:ext cx="790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5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dbeecf03cf440cb"/>
              </a:rPr>
              <a:t>GitHub · code + reproducibility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5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3e9527452be4137"/>
              </a:rPr>
              <a:t>HF · try the decision lab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5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f7333562e1443d6"/>
              </a:rPr>
              <a:t>Colab 01 · BNE / welfare / CCAR</a:t>
            </a: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9564dc0676447e1"/>
              </a:rPr>
              <a:t>Colab 02 · allocation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575" b="0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65 passed, 0 failed · hosted Run all confirmed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32300"/>
            <a:ext cx="401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53627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274"/>
                </a:solidFill>
                <a:latin typeface="Calibri"/>
                <a:ea typeface="Calibri"/>
                <a:cs typeface="Calibri"/>
              </a:rPr>
              <a:t>A0 landscape · 1189 × 841 mm · one editable slide · results from tracked outputs · </a:t>
            </a:r>
            <a:r>
              <a:rPr sz="1650" b="0">
                <a:solidFill>
                  <a:srgbClr val="536274"/>
                </a:solidFill>
                <a:latin typeface="Calibri"/>
                <a:ea typeface="Calibri"/>
                <a:cs typeface="Calibri"/>
              </a:rPr>
              <a:t>peer review: PARTIAL (superseded version only)</a:t>
            </a:r>
          </a:p>
        </p:txBody>
      </p:sp>
      <p:sp>
        <p:nvSpPr>
          <p:cNvPr id="54" name="benchmark-qualifier">
            <a:extLst xmlns:a="http://schemas.openxmlformats.org/drawingml/2006/main">
              <a:ext uri="{FF2B5EF4-FFF2-40B4-BE49-F238E27FC236}">
                <a16:creationId xmlns:a16="http://schemas.microsoft.com/office/drawing/2014/main" id="{D68096FC-6823-4D51-B014-8D2ECD9C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0" y="71247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0663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STYLIZED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BENCHMARK</a:t>
            </a:r>
          </a:p>
        </p:txBody>
      </p:sp>
      <p:sp>
        <p:nvSpPr>
          <p:cNvPr id="55" name="pipeline-1">
            <a:extLst xmlns:a="http://schemas.openxmlformats.org/drawingml/2006/main">
              <a:ext uri="{FF2B5EF4-FFF2-40B4-BE49-F238E27FC236}">
                <a16:creationId xmlns:a16="http://schemas.microsoft.com/office/drawing/2014/main" id="{1A2B7F49-B5C2-4A33-9C01-F265AF6D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1150620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28575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Private type +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public congestion</a:t>
            </a:r>
          </a:p>
        </p:txBody>
      </p:sp>
      <p:sp>
        <p:nvSpPr>
          <p:cNvPr id="56" name="pipeline-2">
            <a:extLst xmlns:a="http://schemas.openxmlformats.org/drawingml/2006/main">
              <a:ext uri="{FF2B5EF4-FFF2-40B4-BE49-F238E27FC236}">
                <a16:creationId xmlns:a16="http://schemas.microsoft.com/office/drawing/2014/main" id="{8BED88D8-B301-4326-A731-F8C227B2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425" y="1150620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28575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Choose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Minimum / Partial / Full</a:t>
            </a:r>
          </a:p>
        </p:txBody>
      </p:sp>
      <p:sp>
        <p:nvSpPr>
          <p:cNvPr id="57" name="pipeline-3">
            <a:extLst xmlns:a="http://schemas.openxmlformats.org/drawingml/2006/main">
              <a:ext uri="{FF2B5EF4-FFF2-40B4-BE49-F238E27FC236}">
                <a16:creationId xmlns:a16="http://schemas.microsoft.com/office/drawing/2014/main" id="{622AA7F1-AD2C-4B94-A94C-C78AF17B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1150620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28575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Compute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pure BNE</a:t>
            </a:r>
          </a:p>
        </p:txBody>
      </p:sp>
      <p:sp>
        <p:nvSpPr>
          <p:cNvPr id="58" name="pipeline-4">
            <a:extLst xmlns:a="http://schemas.openxmlformats.org/drawingml/2006/main">
              <a:ext uri="{FF2B5EF4-FFF2-40B4-BE49-F238E27FC236}">
                <a16:creationId xmlns:a16="http://schemas.microsoft.com/office/drawing/2014/main" id="{DED9BDF0-1461-47B7-884E-C3E41AE8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4575" y="1150620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28575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Compare welfare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with first best</a:t>
            </a:r>
          </a:p>
        </p:txBody>
      </p:sp>
      <p:sp>
        <p:nvSpPr>
          <p:cNvPr id="59" name="pipeline-5">
            <a:extLst xmlns:a="http://schemas.openxmlformats.org/drawingml/2006/main">
              <a:ext uri="{FF2B5EF4-FFF2-40B4-BE49-F238E27FC236}">
                <a16:creationId xmlns:a16="http://schemas.microsoft.com/office/drawing/2014/main" id="{C74ED7FC-FD3F-4399-9F41-DCA6E633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1346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28575">
            <a:solidFill>
              <a:srgbClr val="00663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Test CCAR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incentives</a:t>
            </a:r>
          </a:p>
        </p:txBody>
      </p:sp>
      <p:sp>
        <p:nvSpPr>
          <p:cNvPr id="60" name="pipeline-6">
            <a:extLst xmlns:a="http://schemas.openxmlformats.org/drawingml/2006/main">
              <a:ext uri="{FF2B5EF4-FFF2-40B4-BE49-F238E27FC236}">
                <a16:creationId xmlns:a16="http://schemas.microsoft.com/office/drawing/2014/main" id="{2D201D55-0EBD-47AB-998A-A638D87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425" y="1346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28575">
            <a:solidFill>
              <a:srgbClr val="00663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Decision Lab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Solo + Peer Play</a:t>
            </a:r>
          </a:p>
        </p:txBody>
      </p:sp>
      <p:sp>
        <p:nvSpPr>
          <p:cNvPr id="61" name="pipeline-7">
            <a:extLst xmlns:a="http://schemas.openxmlformats.org/drawingml/2006/main">
              <a:ext uri="{FF2B5EF4-FFF2-40B4-BE49-F238E27FC236}">
                <a16:creationId xmlns:a16="http://schemas.microsoft.com/office/drawing/2014/main" id="{0F20376A-547E-4F24-9027-56BC90E4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1346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28575">
            <a:solidFill>
              <a:srgbClr val="00663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Priority-slot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allocation</a:t>
            </a:r>
          </a:p>
        </p:txBody>
      </p:sp>
      <p:sp>
        <p:nvSpPr>
          <p:cNvPr id="62" name="pipeline-8">
            <a:extLst xmlns:a="http://schemas.openxmlformats.org/drawingml/2006/main">
              <a:ext uri="{FF2B5EF4-FFF2-40B4-BE49-F238E27FC236}">
                <a16:creationId xmlns:a16="http://schemas.microsoft.com/office/drawing/2014/main" id="{C6D9321B-1C75-4C01-9B25-D6C521E1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4575" y="134683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28575">
            <a:solidFill>
              <a:srgbClr val="00663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Robustness +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design implication</a:t>
            </a:r>
          </a:p>
        </p:txBody>
      </p:sp>
      <p:cxnSp>
        <p:nvCxnSpPr>
          <p:cNvPr id="229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16992600" y="121348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3399"/>
            </a:solidFill>
            <a:prstDash val="solid"/>
            <a:tailEnd type="triangle" w="sm" len="sm"/>
          </a:ln>
        </p:spPr>
      </p:cxnSp>
      <p:cxnSp>
        <p:nvCxnSpPr>
          <p:cNvPr id="230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0831175" y="121348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3399"/>
            </a:solidFill>
            <a:prstDash val="solid"/>
            <a:tailEnd type="triangle" w="sm" len="sm"/>
          </a:ln>
        </p:spPr>
      </p:cxnSp>
      <p:cxnSp>
        <p:nvCxnSpPr>
          <p:cNvPr id="231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24669750" y="121348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3399"/>
            </a:solidFill>
            <a:prstDash val="solid"/>
            <a:tailEnd type="triangle" w="sm" len="sm"/>
          </a:ln>
        </p:spPr>
      </p:cxnSp>
      <p:cxnSp>
        <p:nvCxnSpPr>
          <p:cNvPr id="232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15325725" y="12763500"/>
            <a:ext cx="1151572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38A83"/>
            </a:solidFill>
            <a:prstDash val="solid"/>
            <a:tailEnd type="triangle" w="sm" len="sm"/>
          </a:ln>
        </p:spPr>
      </p:cxnSp>
      <p:cxnSp>
        <p:nvCxnSpPr>
          <p:cNvPr id="233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6992600" y="140970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6633"/>
            </a:solidFill>
            <a:prstDash val="solid"/>
            <a:tailEnd type="triangle" w="sm" len="sm"/>
          </a:ln>
        </p:spPr>
      </p:cxnSp>
      <p:cxnSp>
        <p:nvCxnSpPr>
          <p:cNvPr id="23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20831175" y="140970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6633"/>
            </a:solidFill>
            <a:prstDash val="solid"/>
            <a:tailEnd type="triangle" w="sm" len="sm"/>
          </a:ln>
        </p:spPr>
      </p:cxnSp>
      <p:cxnSp>
        <p:nvCxnSpPr>
          <p:cNvPr id="235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4669750" y="140970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6633"/>
            </a:solidFill>
            <a:prstDash val="solid"/>
            <a:tailEnd type="triangle" w="sm" len="sm"/>
          </a:ln>
        </p:spPr>
      </p:cxnSp>
      <p:sp>
        <p:nvSpPr>
          <p:cNvPr id="70" name="result-headline">
            <a:extLst xmlns:a="http://schemas.openxmlformats.org/drawingml/2006/main">
              <a:ext uri="{FF2B5EF4-FFF2-40B4-BE49-F238E27FC236}">
                <a16:creationId xmlns:a16="http://schemas.microsoft.com/office/drawing/2014/main" id="{68082AC2-F875-480D-8D01-11627F5E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17926050"/>
            <a:ext cx="1548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0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Largest benchmark welfare gap: MEDIUM congestion</a:t>
            </a:r>
          </a:p>
        </p:txBody>
      </p:sp>
      <p:graphicFrame>
        <p:nvGraphicFramePr>
          <p:cNvPr id="237" name=""/>
          <p:cNvGraphicFramePr/>
          <p:nvPr/>
        </p:nvGraphicFramePr>
        <p:xfrm>
          <a:off xmlns:a="http://schemas.openxmlformats.org/drawingml/2006/main" x="13658850" y="18669000"/>
          <a:ext xmlns:a="http://schemas.openxmlformats.org/drawingml/2006/main" cx="73342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381250"/>
                <a:gridCol w="2381250"/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CONGESTION</a:t>
                      </a:r>
                    </a:p>
                  </a:txBody>
                  <a:tcPr marL="91440" marR="91440" marT="45720" marB="45720" anchor="ctr" horzOverflow="clip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LOW TYPE</a:t>
                      </a:r>
                    </a:p>
                  </a:txBody>
                  <a:tcPr marL="91440" marR="91440" marT="45720" marB="45720" anchor="ctr" horzOverflow="clip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HIGH TYPE</a:t>
                      </a:r>
                    </a:p>
                  </a:txBody>
                  <a:tcPr marL="91440" marR="91440" marT="45720" marB="45720" anchor="ctr" horzOverflow="clip">
                    <a:solidFill>
                      <a:srgbClr val="0033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</a:p>
                  </a:txBody>
                  <a:tcPr marL="38100" marR="381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Minimum</a:t>
                      </a:r>
                    </a:p>
                  </a:txBody>
                  <a:tcPr marL="38100" marR="381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Minimum</a:t>
                      </a:r>
                    </a:p>
                  </a:txBody>
                  <a:tcPr marL="38100" marR="38100" marT="38100" marB="381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38100" marR="38100" marT="38100" marB="38100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Minimum</a:t>
                      </a:r>
                    </a:p>
                  </a:txBody>
                  <a:tcPr marL="38100" marR="38100" marT="38100" marB="38100" anchor="ctr">
                    <a:solidFill>
                      <a:srgbClr val="FFF3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 marL="38100" marR="381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38100" marR="381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43A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38100" marR="381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gap-label">
            <a:extLst xmlns:a="http://schemas.openxmlformats.org/drawingml/2006/main">
              <a:ext uri="{FF2B5EF4-FFF2-40B4-BE49-F238E27FC236}">
                <a16:creationId xmlns:a16="http://schemas.microsoft.com/office/drawing/2014/main" id="{C76AEF73-7671-445A-9FA4-55DCD9B3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1431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>
                <a:solidFill>
                  <a:srgbClr val="5362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536274"/>
                </a:solidFill>
                <a:latin typeface="Calibri"/>
                <a:ea typeface="Calibri"/>
                <a:cs typeface="Calibri"/>
              </a:rPr>
              <a:t>WELFARE GAP</a:t>
            </a:r>
          </a:p>
        </p:txBody>
      </p:sp>
      <p:sp>
        <p:nvSpPr>
          <p:cNvPr id="73" name="gap-low">
            <a:extLst xmlns:a="http://schemas.openxmlformats.org/drawingml/2006/main">
              <a:ext uri="{FF2B5EF4-FFF2-40B4-BE49-F238E27FC236}">
                <a16:creationId xmlns:a16="http://schemas.microsoft.com/office/drawing/2014/main" id="{08ACFE3C-E2C3-46FE-9BCF-DE8DC93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1831300"/>
            <a:ext cx="2171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5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LOW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5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0.639</a:t>
            </a:r>
          </a:p>
        </p:txBody>
      </p:sp>
      <p:sp>
        <p:nvSpPr>
          <p:cNvPr id="74" name="gap-medium">
            <a:extLst xmlns:a="http://schemas.openxmlformats.org/drawingml/2006/main">
              <a:ext uri="{FF2B5EF4-FFF2-40B4-BE49-F238E27FC236}">
                <a16:creationId xmlns:a16="http://schemas.microsoft.com/office/drawing/2014/main" id="{1F49F0E2-FAFA-431F-A4B4-0CDFCBC7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1831300"/>
            <a:ext cx="2171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7E22"/>
          </a:solidFill>
          <a:ln xmlns:a="http://schemas.openxmlformats.org/drawingml/2006/main" w="19050">
            <a:solidFill>
              <a:srgbClr val="E67E22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MEDIUM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0.946</a:t>
            </a:r>
          </a:p>
        </p:txBody>
      </p:sp>
      <p:sp>
        <p:nvSpPr>
          <p:cNvPr id="75" name="gap-high">
            <a:extLst xmlns:a="http://schemas.openxmlformats.org/drawingml/2006/main">
              <a:ext uri="{FF2B5EF4-FFF2-40B4-BE49-F238E27FC236}">
                <a16:creationId xmlns:a16="http://schemas.microsoft.com/office/drawing/2014/main" id="{8A9571CE-57D9-4804-959B-9D25954B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7550" y="21831300"/>
            <a:ext cx="2171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5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HIGH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5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0.503</a:t>
            </a:r>
          </a:p>
        </p:txBody>
      </p:sp>
      <p:sp>
        <p:nvSpPr>
          <p:cNvPr id="76" name="ccar-title">
            <a:extLst xmlns:a="http://schemas.openxmlformats.org/drawingml/2006/main">
              <a:ext uri="{FF2B5EF4-FFF2-40B4-BE49-F238E27FC236}">
                <a16:creationId xmlns:a16="http://schemas.microsoft.com/office/drawing/2014/main" id="{717CA4D2-8013-43CD-B807-6CB1A06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186690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Candidate mechanism: CCAR</a:t>
            </a:r>
          </a:p>
        </p:txBody>
      </p:sp>
      <p:sp>
        <p:nvSpPr>
          <p:cNvPr id="77" name="ccar-boundary">
            <a:extLst xmlns:a="http://schemas.openxmlformats.org/drawingml/2006/main">
              <a:ext uri="{FF2B5EF4-FFF2-40B4-BE49-F238E27FC236}">
                <a16:creationId xmlns:a16="http://schemas.microsoft.com/office/drawing/2014/main" id="{457625C0-16CA-4CB0-A7EA-18D834B8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1919287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0">
                <a:solidFill>
                  <a:srgbClr val="53627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274"/>
                </a:solidFill>
                <a:latin typeface="Calibri"/>
                <a:ea typeface="Calibri"/>
                <a:cs typeface="Calibri"/>
              </a:rPr>
              <a:t>Mandatory safety information remains universal. Only enhanced non-safety access changes.</a:t>
            </a:r>
          </a:p>
        </p:txBody>
      </p:sp>
      <p:sp>
        <p:nvSpPr>
          <p:cNvPr id="78" name="ccar-baseline">
            <a:extLst xmlns:a="http://schemas.openxmlformats.org/drawingml/2006/main">
              <a:ext uri="{FF2B5EF4-FFF2-40B4-BE49-F238E27FC236}">
                <a16:creationId xmlns:a16="http://schemas.microsoft.com/office/drawing/2014/main" id="{3C6601B8-754B-4BE2-9DE5-43CEC7C4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19907250"/>
            <a:ext cx="3143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BASELINE · MEDIUM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Low type: Partial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High type: Minimum</a:t>
            </a:r>
          </a:p>
        </p:txBody>
      </p:sp>
      <p:sp>
        <p:nvSpPr>
          <p:cNvPr id="79" name="ccar-treatment">
            <a:extLst xmlns:a="http://schemas.openxmlformats.org/drawingml/2006/main">
              <a:ext uri="{FF2B5EF4-FFF2-40B4-BE49-F238E27FC236}">
                <a16:creationId xmlns:a16="http://schemas.microsoft.com/office/drawing/2014/main" id="{2A0C67F2-0211-4230-BF22-C9FF26E7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9907250"/>
            <a:ext cx="3143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19050">
            <a:solidFill>
              <a:srgbClr val="00663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CCAR · αM = 0.7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Low type: Partial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High type: Partial</a:t>
            </a:r>
          </a:p>
        </p:txBody>
      </p:sp>
      <p:cxnSp>
        <p:nvCxnSpPr>
          <p:cNvPr id="246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4860250" y="208026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E67E22"/>
            </a:solidFill>
            <a:prstDash val="solid"/>
            <a:tailEnd type="triangle" w="med" len="med"/>
          </a:ln>
        </p:spPr>
      </p:cxnSp>
      <p:sp>
        <p:nvSpPr>
          <p:cNvPr id="81" name="ccar-metrics">
            <a:extLst xmlns:a="http://schemas.openxmlformats.org/drawingml/2006/main">
              <a:ext uri="{FF2B5EF4-FFF2-40B4-BE49-F238E27FC236}">
                <a16:creationId xmlns:a16="http://schemas.microsoft.com/office/drawing/2014/main" id="{06076162-64E1-4ACE-B52B-8C91F27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1812250"/>
            <a:ext cx="7143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E67E22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4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UNDERLYING WELFARE  2.193 → 3.089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400" b="1">
                <a:solidFill>
                  <a:srgbClr val="17243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243A"/>
                </a:solidFill>
                <a:latin typeface="Calibri"/>
                <a:ea typeface="Calibri"/>
                <a:cs typeface="Calibri"/>
              </a:rPr>
              <a:t>GAP  0.946 → 0.050</a:t>
            </a:r>
          </a:p>
        </p:txBody>
      </p:sp>
      <p:sp>
        <p:nvSpPr>
          <p:cNvPr id="82" name="ccar-qualifier">
            <a:extLst xmlns:a="http://schemas.openxmlformats.org/drawingml/2006/main">
              <a:ext uri="{FF2B5EF4-FFF2-40B4-BE49-F238E27FC236}">
                <a16:creationId xmlns:a16="http://schemas.microsoft.com/office/drawing/2014/main" id="{3C4332B8-8224-4C0E-A263-EA25F6A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2324100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927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Under the benchmark parameterization, CCAR moves the medium-congestion equilibrium closer to the full-information first best.</a:t>
            </a:r>
          </a:p>
        </p:txBody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847ea86d24a95"/>
          <a:stretch xmlns:a="http://schemas.openxmlformats.org/drawingml/2006/main"/>
        </p:blipFill>
        <p:spPr>
          <a:xfrm xmlns:a="http://schemas.openxmlformats.org/drawingml/2006/main">
            <a:off x="38690550" y="28136850"/>
            <a:ext cx="1314450" cy="1314450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da6faf11340e8"/>
          <a:stretch xmlns:a="http://schemas.openxmlformats.org/drawingml/2006/main"/>
        </p:blipFill>
        <p:spPr>
          <a:xfrm xmlns:a="http://schemas.openxmlformats.org/drawingml/2006/main">
            <a:off x="40109775" y="28136850"/>
            <a:ext cx="1314450" cy="1314450"/>
          </a:xfrm>
          <a:prstGeom xmlns:a="http://schemas.openxmlformats.org/drawingml/2006/main" prst="rect">
            <a:avLst/>
          </a:prstGeom>
        </p:spPr>
      </p:pic>
      <p:sp>
        <p:nvSpPr>
          <p:cNvPr id="85" name="hf-qr-caption">
            <a:extLst xmlns:a="http://schemas.openxmlformats.org/drawingml/2006/main">
              <a:ext uri="{FF2B5EF4-FFF2-40B4-BE49-F238E27FC236}">
                <a16:creationId xmlns:a16="http://schemas.microsoft.com/office/drawing/2014/main" id="{C1D71D8B-6FB5-40EE-80CB-7000018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0550" y="294322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975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TRY THE</a:t>
            </a:r>
          </a:p>
          <a:p xmlns:a="http://schemas.openxmlformats.org/drawingml/2006/main">
            <a:pPr algn="ctr">
              <a:lnSpc>
                <a:spcPct val="82000"/>
              </a:lnSpc>
              <a:buNone/>
              <a:defRPr sz="975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DECISION LAB</a:t>
            </a:r>
          </a:p>
        </p:txBody>
      </p:sp>
      <p:sp>
        <p:nvSpPr>
          <p:cNvPr id="86" name="github-qr-caption">
            <a:extLst xmlns:a="http://schemas.openxmlformats.org/drawingml/2006/main">
              <a:ext uri="{FF2B5EF4-FFF2-40B4-BE49-F238E27FC236}">
                <a16:creationId xmlns:a16="http://schemas.microsoft.com/office/drawing/2014/main" id="{353F6D35-69D0-401F-8AD2-72BA453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9775" y="294322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9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CODE +</a:t>
            </a:r>
          </a:p>
          <a:p xmlns:a="http://schemas.openxmlformats.org/drawingml/2006/main">
            <a:pPr algn="ctr">
              <a:lnSpc>
                <a:spcPct val="82000"/>
              </a:lnSpc>
              <a:buNone/>
              <a:defRPr sz="9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2026-10-03T07:20:00.4860000Z</dcterms:created>
  <dcterms:modified xsi:type="dcterms:W3CDTF">2026-10-03T07:20:00.4860000Z</dcterms:modified>
</coreProperties>
</file>